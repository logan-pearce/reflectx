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6" r:id="rId1"/>
  </p:sldMasterIdLst>
  <p:sldIdLst>
    <p:sldId id="256" r:id="rId2"/>
    <p:sldId id="258" r:id="rId3"/>
    <p:sldId id="257" r:id="rId4"/>
  </p:sldIdLst>
  <p:sldSz cx="41148000" cy="25603200"/>
  <p:notesSz cx="6858000" cy="9144000"/>
  <p:embeddedFontLst>
    <p:embeddedFont>
      <p:font typeface="Cubano" pitchFamily="2" charset="0"/>
      <p:regular r:id="rId5"/>
    </p:embeddedFont>
    <p:embeddedFont>
      <p:font typeface="Montserrat" pitchFamily="2" charset="77"/>
      <p:regular r:id="rId6"/>
    </p:embeddedFont>
    <p:embeddedFont>
      <p:font typeface="Montserrat SemiBold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B1"/>
    <a:srgbClr val="EDC08F"/>
    <a:srgbClr val="507F9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8"/>
    <p:restoredTop sz="94798"/>
  </p:normalViewPr>
  <p:slideViewPr>
    <p:cSldViewPr snapToGrid="0">
      <p:cViewPr>
        <p:scale>
          <a:sx n="38" d="100"/>
          <a:sy n="38" d="100"/>
        </p:scale>
        <p:origin x="204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0" y="4190155"/>
            <a:ext cx="30861000" cy="8913707"/>
          </a:xfrm>
        </p:spPr>
        <p:txBody>
          <a:bodyPr anchor="b"/>
          <a:lstStyle>
            <a:lvl1pPr algn="ctr">
              <a:defRPr sz="20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0" y="13447609"/>
            <a:ext cx="30861000" cy="6181511"/>
          </a:xfrm>
        </p:spPr>
        <p:txBody>
          <a:bodyPr/>
          <a:lstStyle>
            <a:lvl1pPr marL="0" indent="0" algn="ctr">
              <a:buNone/>
              <a:defRPr sz="8100"/>
            </a:lvl1pPr>
            <a:lvl2pPr marL="1543050" indent="0" algn="ctr">
              <a:buNone/>
              <a:defRPr sz="6750"/>
            </a:lvl2pPr>
            <a:lvl3pPr marL="3086100" indent="0" algn="ctr">
              <a:buNone/>
              <a:defRPr sz="6075"/>
            </a:lvl3pPr>
            <a:lvl4pPr marL="4629150" indent="0" algn="ctr">
              <a:buNone/>
              <a:defRPr sz="5400"/>
            </a:lvl4pPr>
            <a:lvl5pPr marL="6172200" indent="0" algn="ctr">
              <a:buNone/>
              <a:defRPr sz="5400"/>
            </a:lvl5pPr>
            <a:lvl6pPr marL="7715250" indent="0" algn="ctr">
              <a:buNone/>
              <a:defRPr sz="5400"/>
            </a:lvl6pPr>
            <a:lvl7pPr marL="9258300" indent="0" algn="ctr">
              <a:buNone/>
              <a:defRPr sz="5400"/>
            </a:lvl7pPr>
            <a:lvl8pPr marL="10801350" indent="0" algn="ctr">
              <a:buNone/>
              <a:defRPr sz="5400"/>
            </a:lvl8pPr>
            <a:lvl9pPr marL="12344400" indent="0" algn="ctr">
              <a:buNone/>
              <a:defRPr sz="5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4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4" y="6383024"/>
            <a:ext cx="35490150" cy="10650218"/>
          </a:xfrm>
        </p:spPr>
        <p:txBody>
          <a:bodyPr anchor="b"/>
          <a:lstStyle>
            <a:lvl1pPr>
              <a:defRPr sz="20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4" y="17133997"/>
            <a:ext cx="35490150" cy="5600698"/>
          </a:xfrm>
        </p:spPr>
        <p:txBody>
          <a:bodyPr/>
          <a:lstStyle>
            <a:lvl1pPr marL="0" indent="0">
              <a:buNone/>
              <a:defRPr sz="8100">
                <a:solidFill>
                  <a:schemeClr val="tx1">
                    <a:tint val="82000"/>
                  </a:schemeClr>
                </a:solidFill>
              </a:defRPr>
            </a:lvl1pPr>
            <a:lvl2pPr marL="154305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2pPr>
            <a:lvl3pPr marL="3086100" indent="0">
              <a:buNone/>
              <a:defRPr sz="6075">
                <a:solidFill>
                  <a:schemeClr val="tx1">
                    <a:tint val="82000"/>
                  </a:schemeClr>
                </a:solidFill>
              </a:defRPr>
            </a:lvl3pPr>
            <a:lvl4pPr marL="462915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4pPr>
            <a:lvl5pPr marL="6172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5pPr>
            <a:lvl6pPr marL="771525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6pPr>
            <a:lvl7pPr marL="92583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7pPr>
            <a:lvl8pPr marL="1080135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8pPr>
            <a:lvl9pPr marL="123444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25" y="6815667"/>
            <a:ext cx="1748790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75" y="6815667"/>
            <a:ext cx="1748790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5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4" y="1363135"/>
            <a:ext cx="35490150" cy="494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86" y="6276342"/>
            <a:ext cx="17407531" cy="3075938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750" b="1"/>
            </a:lvl2pPr>
            <a:lvl3pPr marL="3086100" indent="0">
              <a:buNone/>
              <a:defRPr sz="6075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86" y="9352280"/>
            <a:ext cx="17407531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5" y="6276342"/>
            <a:ext cx="17493260" cy="3075938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3050" indent="0">
              <a:buNone/>
              <a:defRPr sz="6750" b="1"/>
            </a:lvl2pPr>
            <a:lvl3pPr marL="3086100" indent="0">
              <a:buNone/>
              <a:defRPr sz="6075" b="1"/>
            </a:lvl3pPr>
            <a:lvl4pPr marL="4629150" indent="0">
              <a:buNone/>
              <a:defRPr sz="5400" b="1"/>
            </a:lvl4pPr>
            <a:lvl5pPr marL="6172200" indent="0">
              <a:buNone/>
              <a:defRPr sz="5400" b="1"/>
            </a:lvl5pPr>
            <a:lvl6pPr marL="7715250" indent="0">
              <a:buNone/>
              <a:defRPr sz="5400" b="1"/>
            </a:lvl6pPr>
            <a:lvl7pPr marL="9258300" indent="0">
              <a:buNone/>
              <a:defRPr sz="5400" b="1"/>
            </a:lvl7pPr>
            <a:lvl8pPr marL="10801350" indent="0">
              <a:buNone/>
              <a:defRPr sz="5400" b="1"/>
            </a:lvl8pPr>
            <a:lvl9pPr marL="12344400" indent="0">
              <a:buNone/>
              <a:defRPr sz="5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5" y="9352280"/>
            <a:ext cx="17493260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4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1706880"/>
            <a:ext cx="13271300" cy="5974080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59" y="3686388"/>
            <a:ext cx="20831175" cy="18194867"/>
          </a:xfrm>
        </p:spPr>
        <p:txBody>
          <a:bodyPr/>
          <a:lstStyle>
            <a:lvl1pPr>
              <a:defRPr sz="10800"/>
            </a:lvl1pPr>
            <a:lvl2pPr>
              <a:defRPr sz="9450"/>
            </a:lvl2pPr>
            <a:lvl3pPr>
              <a:defRPr sz="8100"/>
            </a:lvl3pPr>
            <a:lvl4pPr>
              <a:defRPr sz="6750"/>
            </a:lvl4pPr>
            <a:lvl5pPr>
              <a:defRPr sz="6750"/>
            </a:lvl5pPr>
            <a:lvl6pPr>
              <a:defRPr sz="6750"/>
            </a:lvl6pPr>
            <a:lvl7pPr>
              <a:defRPr sz="6750"/>
            </a:lvl7pPr>
            <a:lvl8pPr>
              <a:defRPr sz="6750"/>
            </a:lvl8pPr>
            <a:lvl9pPr>
              <a:defRPr sz="6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7680960"/>
            <a:ext cx="13271300" cy="14229929"/>
          </a:xfrm>
        </p:spPr>
        <p:txBody>
          <a:bodyPr/>
          <a:lstStyle>
            <a:lvl1pPr marL="0" indent="0">
              <a:buNone/>
              <a:defRPr sz="5400"/>
            </a:lvl1pPr>
            <a:lvl2pPr marL="1543050" indent="0">
              <a:buNone/>
              <a:defRPr sz="4725"/>
            </a:lvl2pPr>
            <a:lvl3pPr marL="3086100" indent="0">
              <a:buNone/>
              <a:defRPr sz="4050"/>
            </a:lvl3pPr>
            <a:lvl4pPr marL="4629150" indent="0">
              <a:buNone/>
              <a:defRPr sz="3375"/>
            </a:lvl4pPr>
            <a:lvl5pPr marL="6172200" indent="0">
              <a:buNone/>
              <a:defRPr sz="3375"/>
            </a:lvl5pPr>
            <a:lvl6pPr marL="7715250" indent="0">
              <a:buNone/>
              <a:defRPr sz="3375"/>
            </a:lvl6pPr>
            <a:lvl7pPr marL="9258300" indent="0">
              <a:buNone/>
              <a:defRPr sz="3375"/>
            </a:lvl7pPr>
            <a:lvl8pPr marL="10801350" indent="0">
              <a:buNone/>
              <a:defRPr sz="3375"/>
            </a:lvl8pPr>
            <a:lvl9pPr marL="12344400" indent="0">
              <a:buNone/>
              <a:defRPr sz="3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5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1706880"/>
            <a:ext cx="13271300" cy="5974080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59" y="3686388"/>
            <a:ext cx="20831175" cy="18194867"/>
          </a:xfrm>
        </p:spPr>
        <p:txBody>
          <a:bodyPr anchor="t"/>
          <a:lstStyle>
            <a:lvl1pPr marL="0" indent="0">
              <a:buNone/>
              <a:defRPr sz="10800"/>
            </a:lvl1pPr>
            <a:lvl2pPr marL="1543050" indent="0">
              <a:buNone/>
              <a:defRPr sz="9450"/>
            </a:lvl2pPr>
            <a:lvl3pPr marL="3086100" indent="0">
              <a:buNone/>
              <a:defRPr sz="8100"/>
            </a:lvl3pPr>
            <a:lvl4pPr marL="4629150" indent="0">
              <a:buNone/>
              <a:defRPr sz="6750"/>
            </a:lvl4pPr>
            <a:lvl5pPr marL="6172200" indent="0">
              <a:buNone/>
              <a:defRPr sz="6750"/>
            </a:lvl5pPr>
            <a:lvl6pPr marL="7715250" indent="0">
              <a:buNone/>
              <a:defRPr sz="6750"/>
            </a:lvl6pPr>
            <a:lvl7pPr marL="9258300" indent="0">
              <a:buNone/>
              <a:defRPr sz="6750"/>
            </a:lvl7pPr>
            <a:lvl8pPr marL="10801350" indent="0">
              <a:buNone/>
              <a:defRPr sz="6750"/>
            </a:lvl8pPr>
            <a:lvl9pPr marL="12344400" indent="0">
              <a:buNone/>
              <a:defRPr sz="6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7680960"/>
            <a:ext cx="13271300" cy="14229929"/>
          </a:xfrm>
        </p:spPr>
        <p:txBody>
          <a:bodyPr/>
          <a:lstStyle>
            <a:lvl1pPr marL="0" indent="0">
              <a:buNone/>
              <a:defRPr sz="5400"/>
            </a:lvl1pPr>
            <a:lvl2pPr marL="1543050" indent="0">
              <a:buNone/>
              <a:defRPr sz="4725"/>
            </a:lvl2pPr>
            <a:lvl3pPr marL="3086100" indent="0">
              <a:buNone/>
              <a:defRPr sz="4050"/>
            </a:lvl3pPr>
            <a:lvl4pPr marL="4629150" indent="0">
              <a:buNone/>
              <a:defRPr sz="3375"/>
            </a:lvl4pPr>
            <a:lvl5pPr marL="6172200" indent="0">
              <a:buNone/>
              <a:defRPr sz="3375"/>
            </a:lvl5pPr>
            <a:lvl6pPr marL="7715250" indent="0">
              <a:buNone/>
              <a:defRPr sz="3375"/>
            </a:lvl6pPr>
            <a:lvl7pPr marL="9258300" indent="0">
              <a:buNone/>
              <a:defRPr sz="3375"/>
            </a:lvl7pPr>
            <a:lvl8pPr marL="10801350" indent="0">
              <a:buNone/>
              <a:defRPr sz="3375"/>
            </a:lvl8pPr>
            <a:lvl9pPr marL="12344400" indent="0">
              <a:buNone/>
              <a:defRPr sz="33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9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2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37" y="1363133"/>
            <a:ext cx="8872538" cy="216975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25" y="1363133"/>
            <a:ext cx="26103263" cy="216975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9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25" y="1363135"/>
            <a:ext cx="35490150" cy="4948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25" y="6815667"/>
            <a:ext cx="35490150" cy="1624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25" y="23730375"/>
            <a:ext cx="925830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42819-11AB-1648-BCC9-D8D9EF54700A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75" y="23730375"/>
            <a:ext cx="1388745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75" y="23730375"/>
            <a:ext cx="925830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84196-D280-DB41-B512-B575E24F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086100" rtl="0" eaLnBrk="1" latinLnBrk="0" hangingPunct="1">
        <a:lnSpc>
          <a:spcPct val="90000"/>
        </a:lnSpc>
        <a:spcBef>
          <a:spcPct val="0"/>
        </a:spcBef>
        <a:buNone/>
        <a:defRPr sz="1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1525" indent="-771525" algn="l" defTabSz="3086100" rtl="0" eaLnBrk="1" latinLnBrk="0" hangingPunct="1">
        <a:lnSpc>
          <a:spcPct val="90000"/>
        </a:lnSpc>
        <a:spcBef>
          <a:spcPts val="3375"/>
        </a:spcBef>
        <a:buFont typeface="Arial" panose="020B0604020202020204" pitchFamily="34" charset="0"/>
        <a:buChar char="•"/>
        <a:defRPr sz="9450" kern="1200">
          <a:solidFill>
            <a:schemeClr val="tx1"/>
          </a:solidFill>
          <a:latin typeface="+mn-lt"/>
          <a:ea typeface="+mn-ea"/>
          <a:cs typeface="+mn-cs"/>
        </a:defRPr>
      </a:lvl1pPr>
      <a:lvl2pPr marL="23145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4pPr>
      <a:lvl5pPr marL="69437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5pPr>
      <a:lvl6pPr marL="84867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6pPr>
      <a:lvl7pPr marL="100298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7pPr>
      <a:lvl8pPr marL="1157287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8pPr>
      <a:lvl9pPr marL="13115925" indent="-771525" algn="l" defTabSz="3086100" rtl="0" eaLnBrk="1" latinLnBrk="0" hangingPunct="1">
        <a:lnSpc>
          <a:spcPct val="90000"/>
        </a:lnSpc>
        <a:spcBef>
          <a:spcPts val="1688"/>
        </a:spcBef>
        <a:buFont typeface="Arial" panose="020B0604020202020204" pitchFamily="34" charset="0"/>
        <a:buChar char="•"/>
        <a:defRPr sz="60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1pPr>
      <a:lvl2pPr marL="15430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3pPr>
      <a:lvl4pPr marL="46291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5pPr>
      <a:lvl6pPr marL="77152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6pPr>
      <a:lvl7pPr marL="92583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0" algn="l" defTabSz="3086100" rtl="0" eaLnBrk="1" latinLnBrk="0" hangingPunct="1">
        <a:defRPr sz="60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B93FED-CBB7-9F35-50CB-3B2598115A6E}"/>
              </a:ext>
            </a:extLst>
          </p:cNvPr>
          <p:cNvSpPr/>
          <p:nvPr/>
        </p:nvSpPr>
        <p:spPr>
          <a:xfrm>
            <a:off x="14683807" y="2849119"/>
            <a:ext cx="2243309" cy="17478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3000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0.16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0.2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5.0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74C4DD-4F17-8998-E03C-531EBD29ED8B}"/>
              </a:ext>
            </a:extLst>
          </p:cNvPr>
          <p:cNvSpPr/>
          <p:nvPr/>
        </p:nvSpPr>
        <p:spPr>
          <a:xfrm>
            <a:off x="17068077" y="2849119"/>
            <a:ext cx="2243309" cy="17478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3500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0.44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0.45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4.8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8A701E-EB2B-0DEC-D3C4-29E4E1061391}"/>
              </a:ext>
            </a:extLst>
          </p:cNvPr>
          <p:cNvSpPr/>
          <p:nvPr/>
        </p:nvSpPr>
        <p:spPr>
          <a:xfrm>
            <a:off x="19452348" y="2849115"/>
            <a:ext cx="2243309" cy="175947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4000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0.64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0.63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4.6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D0D132-6AC6-F248-BA51-FEBB0D8EACA5}"/>
              </a:ext>
            </a:extLst>
          </p:cNvPr>
          <p:cNvSpPr/>
          <p:nvPr/>
        </p:nvSpPr>
        <p:spPr>
          <a:xfrm>
            <a:off x="21836618" y="2849114"/>
            <a:ext cx="2243309" cy="175947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5000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0.8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0.8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81DCBF-16C3-1B1F-DF78-9E938744E4C2}"/>
              </a:ext>
            </a:extLst>
          </p:cNvPr>
          <p:cNvSpPr/>
          <p:nvPr/>
        </p:nvSpPr>
        <p:spPr>
          <a:xfrm>
            <a:off x="24220888" y="2849113"/>
            <a:ext cx="2243309" cy="175947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Teff = 7000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1.5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1.7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Logg = 4.2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3D841A-FB94-35C5-CDEA-C108403E1AF0}"/>
              </a:ext>
            </a:extLst>
          </p:cNvPr>
          <p:cNvSpPr/>
          <p:nvPr/>
        </p:nvSpPr>
        <p:spPr>
          <a:xfrm>
            <a:off x="14683807" y="2288832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Star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3B1912-BDDF-C69E-AF7A-D7398E4D71BE}"/>
              </a:ext>
            </a:extLst>
          </p:cNvPr>
          <p:cNvSpPr/>
          <p:nvPr/>
        </p:nvSpPr>
        <p:spPr>
          <a:xfrm rot="16200000">
            <a:off x="20478351" y="-105123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CFFF3D-C5B2-6C6F-E44E-510DFCF0C1E3}"/>
              </a:ext>
            </a:extLst>
          </p:cNvPr>
          <p:cNvSpPr/>
          <p:nvPr/>
        </p:nvSpPr>
        <p:spPr>
          <a:xfrm>
            <a:off x="14718039" y="5169505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Planet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6D2A122-3587-A22B-DD94-C61F5557012E}"/>
              </a:ext>
            </a:extLst>
          </p:cNvPr>
          <p:cNvSpPr/>
          <p:nvPr/>
        </p:nvSpPr>
        <p:spPr>
          <a:xfrm>
            <a:off x="16973429" y="5768846"/>
            <a:ext cx="2384270" cy="15247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SuperNeptune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0.09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0.54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50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073638-C0E0-FA74-EBD2-84ABD823C9C4}"/>
              </a:ext>
            </a:extLst>
          </p:cNvPr>
          <p:cNvSpPr/>
          <p:nvPr/>
        </p:nvSpPr>
        <p:spPr>
          <a:xfrm>
            <a:off x="14518678" y="5768845"/>
            <a:ext cx="2384270" cy="15247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Neptune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0.05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0.35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100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2DFA31C-8C87-0672-023B-F3D6C21E6810}"/>
              </a:ext>
            </a:extLst>
          </p:cNvPr>
          <p:cNvSpPr/>
          <p:nvPr/>
        </p:nvSpPr>
        <p:spPr>
          <a:xfrm>
            <a:off x="19428180" y="5788152"/>
            <a:ext cx="2384270" cy="15247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Saturn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0.3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0.8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F578E5F-170B-5520-26E7-72243583B12F}"/>
              </a:ext>
            </a:extLst>
          </p:cNvPr>
          <p:cNvSpPr/>
          <p:nvPr/>
        </p:nvSpPr>
        <p:spPr>
          <a:xfrm>
            <a:off x="21882931" y="5768845"/>
            <a:ext cx="2384270" cy="15247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Jupiter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1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1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DDF4904-30E2-49A5-C3A2-EA5C483219C5}"/>
              </a:ext>
            </a:extLst>
          </p:cNvPr>
          <p:cNvSpPr/>
          <p:nvPr/>
        </p:nvSpPr>
        <p:spPr>
          <a:xfrm>
            <a:off x="24337682" y="5788150"/>
            <a:ext cx="2384270" cy="15247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SuperJupiter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M = 5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R = 0.9</a:t>
            </a:r>
          </a:p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[M/H] = 1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175F7324-F719-1E3C-133E-4A7F702A6179}"/>
              </a:ext>
            </a:extLst>
          </p:cNvPr>
          <p:cNvSpPr/>
          <p:nvPr/>
        </p:nvSpPr>
        <p:spPr>
          <a:xfrm rot="16200000">
            <a:off x="20466270" y="2762900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B7BAF-5AF6-BC84-002B-E42EC9A6F218}"/>
              </a:ext>
            </a:extLst>
          </p:cNvPr>
          <p:cNvSpPr/>
          <p:nvPr/>
        </p:nvSpPr>
        <p:spPr>
          <a:xfrm>
            <a:off x="14730121" y="8010609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C/O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5C6B596-2C03-F117-35D3-6AEF4DDD1CA4}"/>
              </a:ext>
            </a:extLst>
          </p:cNvPr>
          <p:cNvSpPr/>
          <p:nvPr/>
        </p:nvSpPr>
        <p:spPr>
          <a:xfrm>
            <a:off x="16214249" y="8656917"/>
            <a:ext cx="2384270" cy="82480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0.5 Solar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20F7222-B0A0-BD1C-6761-010E54C1E986}"/>
              </a:ext>
            </a:extLst>
          </p:cNvPr>
          <p:cNvSpPr/>
          <p:nvPr/>
        </p:nvSpPr>
        <p:spPr>
          <a:xfrm>
            <a:off x="19311384" y="8656917"/>
            <a:ext cx="2384270" cy="82480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1.0 Solar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9AD7D84-E0EF-45A9-F15D-BDBC566075B2}"/>
              </a:ext>
            </a:extLst>
          </p:cNvPr>
          <p:cNvSpPr/>
          <p:nvPr/>
        </p:nvSpPr>
        <p:spPr>
          <a:xfrm>
            <a:off x="22408520" y="8655713"/>
            <a:ext cx="2384270" cy="82480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1.5 Solar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349BA3-3B39-83F6-0F8A-043EB5C6AD1C}"/>
              </a:ext>
            </a:extLst>
          </p:cNvPr>
          <p:cNvSpPr/>
          <p:nvPr/>
        </p:nvSpPr>
        <p:spPr>
          <a:xfrm>
            <a:off x="14224678" y="1933583"/>
            <a:ext cx="12698658" cy="778109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2BA023-44A1-864C-2ACE-A08C03CFD107}"/>
              </a:ext>
            </a:extLst>
          </p:cNvPr>
          <p:cNvSpPr/>
          <p:nvPr/>
        </p:nvSpPr>
        <p:spPr>
          <a:xfrm>
            <a:off x="14349524" y="1696784"/>
            <a:ext cx="12448952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82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Model</a:t>
            </a:r>
            <a:endParaRPr lang="en-US" sz="2273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145EE6-5F29-422B-11F6-5F074F6A94E7}"/>
              </a:ext>
            </a:extLst>
          </p:cNvPr>
          <p:cNvSpPr/>
          <p:nvPr/>
        </p:nvSpPr>
        <p:spPr>
          <a:xfrm>
            <a:off x="14349524" y="10220263"/>
            <a:ext cx="12448952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82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Each Model contains</a:t>
            </a:r>
            <a:endParaRPr lang="en-US" sz="2273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8DE7CC-247E-0D89-313C-BD68DE6B3E03}"/>
              </a:ext>
            </a:extLst>
          </p:cNvPr>
          <p:cNvSpPr/>
          <p:nvPr/>
        </p:nvSpPr>
        <p:spPr>
          <a:xfrm>
            <a:off x="14730121" y="10854524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Equil</a:t>
            </a:r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 temp -&gt; sets separation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946B5EC1-8F22-59D2-2050-C43A06F32661}"/>
              </a:ext>
            </a:extLst>
          </p:cNvPr>
          <p:cNvSpPr/>
          <p:nvPr/>
        </p:nvSpPr>
        <p:spPr>
          <a:xfrm rot="16200000">
            <a:off x="20432036" y="7913413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40E5382-1D37-7736-97F1-F48CACCB8E1B}"/>
              </a:ext>
            </a:extLst>
          </p:cNvPr>
          <p:cNvSpPr/>
          <p:nvPr/>
        </p:nvSpPr>
        <p:spPr>
          <a:xfrm>
            <a:off x="16724725" y="11419990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100 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961F978-11FE-C2A6-3533-A3FF4D935920}"/>
              </a:ext>
            </a:extLst>
          </p:cNvPr>
          <p:cNvSpPr/>
          <p:nvPr/>
        </p:nvSpPr>
        <p:spPr>
          <a:xfrm>
            <a:off x="15485265" y="11419990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75 K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4ADCB85-E36D-B8FB-D3BB-53F19D0001BA}"/>
              </a:ext>
            </a:extLst>
          </p:cNvPr>
          <p:cNvSpPr/>
          <p:nvPr/>
        </p:nvSpPr>
        <p:spPr>
          <a:xfrm>
            <a:off x="17964185" y="11419990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150 K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98D5080-7400-F103-3BB5-8506D649B152}"/>
              </a:ext>
            </a:extLst>
          </p:cNvPr>
          <p:cNvSpPr/>
          <p:nvPr/>
        </p:nvSpPr>
        <p:spPr>
          <a:xfrm>
            <a:off x="19227139" y="11419989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180 K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AE20BE1-A0F0-BBE6-1D64-AACBC9018D19}"/>
              </a:ext>
            </a:extLst>
          </p:cNvPr>
          <p:cNvSpPr/>
          <p:nvPr/>
        </p:nvSpPr>
        <p:spPr>
          <a:xfrm>
            <a:off x="20466599" y="11419988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200 K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CF1BE14-7C48-F5EA-A9ED-E4397443F330}"/>
              </a:ext>
            </a:extLst>
          </p:cNvPr>
          <p:cNvSpPr/>
          <p:nvPr/>
        </p:nvSpPr>
        <p:spPr>
          <a:xfrm>
            <a:off x="21706059" y="11419987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250 K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948ABA0-D1C0-9E46-03E4-B7CEA2EA8EF0}"/>
              </a:ext>
            </a:extLst>
          </p:cNvPr>
          <p:cNvSpPr/>
          <p:nvPr/>
        </p:nvSpPr>
        <p:spPr>
          <a:xfrm>
            <a:off x="22969012" y="11419986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300 K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91C22F4-C15B-C9AC-E4C8-2D411E022BED}"/>
              </a:ext>
            </a:extLst>
          </p:cNvPr>
          <p:cNvSpPr/>
          <p:nvPr/>
        </p:nvSpPr>
        <p:spPr>
          <a:xfrm>
            <a:off x="24231966" y="11419986"/>
            <a:ext cx="1110577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500 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2228E1-B4BA-A21E-1ACC-33B54BDC4849}"/>
              </a:ext>
            </a:extLst>
          </p:cNvPr>
          <p:cNvSpPr/>
          <p:nvPr/>
        </p:nvSpPr>
        <p:spPr>
          <a:xfrm>
            <a:off x="14756299" y="12265484"/>
            <a:ext cx="11780391" cy="483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Pressure/Temperature profile for each </a:t>
            </a:r>
            <a:r>
              <a:rPr lang="en-US" sz="2273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Teq</a:t>
            </a:r>
            <a:endParaRPr lang="en-US" sz="1818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A0F107-52CA-CDD2-5543-BA3EE8206167}"/>
              </a:ext>
            </a:extLst>
          </p:cNvPr>
          <p:cNvSpPr/>
          <p:nvPr/>
        </p:nvSpPr>
        <p:spPr>
          <a:xfrm>
            <a:off x="14730121" y="13567441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Phase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E309A13-88F6-7514-9DDF-C84670BABCFF}"/>
              </a:ext>
            </a:extLst>
          </p:cNvPr>
          <p:cNvSpPr/>
          <p:nvPr/>
        </p:nvSpPr>
        <p:spPr>
          <a:xfrm>
            <a:off x="14756299" y="13001547"/>
            <a:ext cx="11780391" cy="483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Each </a:t>
            </a:r>
            <a:r>
              <a:rPr lang="en-US" sz="2273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Teq</a:t>
            </a:r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 has</a:t>
            </a:r>
            <a:endParaRPr lang="en-US" sz="1818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CE8D09A-65AC-6FF8-3C83-DE7989D078F9}"/>
              </a:ext>
            </a:extLst>
          </p:cNvPr>
          <p:cNvSpPr/>
          <p:nvPr/>
        </p:nvSpPr>
        <p:spPr>
          <a:xfrm>
            <a:off x="19531888" y="14172145"/>
            <a:ext cx="185399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90 deg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CE44D7F-F119-DA40-60EE-D2999796F546}"/>
              </a:ext>
            </a:extLst>
          </p:cNvPr>
          <p:cNvSpPr/>
          <p:nvPr/>
        </p:nvSpPr>
        <p:spPr>
          <a:xfrm>
            <a:off x="15485268" y="14172147"/>
            <a:ext cx="185399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 deg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72BC77B5-1F9F-BBC1-CABB-35E9A2B0EA12}"/>
              </a:ext>
            </a:extLst>
          </p:cNvPr>
          <p:cNvSpPr/>
          <p:nvPr/>
        </p:nvSpPr>
        <p:spPr>
          <a:xfrm>
            <a:off x="17517962" y="14172146"/>
            <a:ext cx="185399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45 deg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03CDF24A-896B-DE1C-14FB-6B930BE73D3F}"/>
              </a:ext>
            </a:extLst>
          </p:cNvPr>
          <p:cNvSpPr/>
          <p:nvPr/>
        </p:nvSpPr>
        <p:spPr>
          <a:xfrm>
            <a:off x="21564582" y="14172145"/>
            <a:ext cx="185399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120 deg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062E4B2-143B-4F2A-A699-CDA60A3AE507}"/>
              </a:ext>
            </a:extLst>
          </p:cNvPr>
          <p:cNvSpPr/>
          <p:nvPr/>
        </p:nvSpPr>
        <p:spPr>
          <a:xfrm>
            <a:off x="23597277" y="14172145"/>
            <a:ext cx="185399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140 deg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9D0CD44F-7860-DC1E-E1B7-1CDB50AFA7BA}"/>
              </a:ext>
            </a:extLst>
          </p:cNvPr>
          <p:cNvSpPr/>
          <p:nvPr/>
        </p:nvSpPr>
        <p:spPr>
          <a:xfrm rot="16200000">
            <a:off x="20376637" y="10285000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9D61D9-3953-26AC-5805-8916B74F0B3C}"/>
              </a:ext>
            </a:extLst>
          </p:cNvPr>
          <p:cNvSpPr/>
          <p:nvPr/>
        </p:nvSpPr>
        <p:spPr>
          <a:xfrm>
            <a:off x="14683807" y="16123077"/>
            <a:ext cx="11780391" cy="92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Stellar Spectrum and cloud-free Albedo, Planet/Star Flux Ratio, and Planet Spectrum from 0.3-2 um at R = 60,000</a:t>
            </a:r>
          </a:p>
          <a:p>
            <a:pPr algn="ctr"/>
            <a:endParaRPr lang="en-US" sz="2273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  <a:p>
            <a:pPr algn="ctr"/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And cloudy models:</a:t>
            </a:r>
            <a:endParaRPr lang="en-US" sz="1818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68" name="Left Brace 67">
            <a:extLst>
              <a:ext uri="{FF2B5EF4-FFF2-40B4-BE49-F238E27FC236}">
                <a16:creationId xmlns:a16="http://schemas.microsoft.com/office/drawing/2014/main" id="{92698B83-1672-6329-7E0B-63B13FCF0599}"/>
              </a:ext>
            </a:extLst>
          </p:cNvPr>
          <p:cNvSpPr/>
          <p:nvPr/>
        </p:nvSpPr>
        <p:spPr>
          <a:xfrm rot="16200000">
            <a:off x="20355386" y="12499309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126737-68DB-801E-D7B1-FC09D6204EE7}"/>
              </a:ext>
            </a:extLst>
          </p:cNvPr>
          <p:cNvSpPr/>
          <p:nvPr/>
        </p:nvSpPr>
        <p:spPr>
          <a:xfrm>
            <a:off x="14601238" y="15368715"/>
            <a:ext cx="11780391" cy="483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73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For each phase:</a:t>
            </a:r>
            <a:endParaRPr lang="en-US" sz="1818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7E834AC-7828-4849-2ABA-B004DA279E82}"/>
              </a:ext>
            </a:extLst>
          </p:cNvPr>
          <p:cNvSpPr/>
          <p:nvPr/>
        </p:nvSpPr>
        <p:spPr>
          <a:xfrm>
            <a:off x="14730121" y="17814188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Sedimentation efficiency </a:t>
            </a:r>
            <a:r>
              <a:rPr lang="en-US" sz="2727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f_sed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63328ED5-832F-52E7-837C-71BEBDCA4EDC}"/>
              </a:ext>
            </a:extLst>
          </p:cNvPr>
          <p:cNvSpPr/>
          <p:nvPr/>
        </p:nvSpPr>
        <p:spPr>
          <a:xfrm>
            <a:off x="16295137" y="18424748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0.1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5DE6BD8-5B32-232E-47F6-E161729EA617}"/>
              </a:ext>
            </a:extLst>
          </p:cNvPr>
          <p:cNvSpPr/>
          <p:nvPr/>
        </p:nvSpPr>
        <p:spPr>
          <a:xfrm>
            <a:off x="17760144" y="18424747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0.5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9E1CC97-33AC-8002-4493-C9E7552147EC}"/>
              </a:ext>
            </a:extLst>
          </p:cNvPr>
          <p:cNvSpPr/>
          <p:nvPr/>
        </p:nvSpPr>
        <p:spPr>
          <a:xfrm>
            <a:off x="19191732" y="18418895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9D81FBE-7EF0-C500-B01B-52E1A9B96524}"/>
              </a:ext>
            </a:extLst>
          </p:cNvPr>
          <p:cNvSpPr/>
          <p:nvPr/>
        </p:nvSpPr>
        <p:spPr>
          <a:xfrm>
            <a:off x="20656739" y="18418894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3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9E8FDA1-79E3-C235-1246-5E2780984CB5}"/>
              </a:ext>
            </a:extLst>
          </p:cNvPr>
          <p:cNvSpPr/>
          <p:nvPr/>
        </p:nvSpPr>
        <p:spPr>
          <a:xfrm>
            <a:off x="22088328" y="18418895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6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0B16A2B-32A2-D8BF-E4F8-322D9470AB88}"/>
              </a:ext>
            </a:extLst>
          </p:cNvPr>
          <p:cNvSpPr/>
          <p:nvPr/>
        </p:nvSpPr>
        <p:spPr>
          <a:xfrm>
            <a:off x="23553335" y="18418894"/>
            <a:ext cx="1239458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10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13D1C24-D6FD-473C-F2DE-B1B89DEB9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82" y="18344324"/>
            <a:ext cx="1284140" cy="87721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A12A7A1-531F-DDA6-9C13-E460D9539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8341" y="18715892"/>
            <a:ext cx="1284140" cy="351976"/>
          </a:xfrm>
          <a:prstGeom prst="rect">
            <a:avLst/>
          </a:prstGeom>
        </p:spPr>
      </p:pic>
      <p:sp>
        <p:nvSpPr>
          <p:cNvPr id="88" name="Left Brace 87">
            <a:extLst>
              <a:ext uri="{FF2B5EF4-FFF2-40B4-BE49-F238E27FC236}">
                <a16:creationId xmlns:a16="http://schemas.microsoft.com/office/drawing/2014/main" id="{02135941-763B-655B-32F8-B720AA8A827E}"/>
              </a:ext>
            </a:extLst>
          </p:cNvPr>
          <p:cNvSpPr/>
          <p:nvPr/>
        </p:nvSpPr>
        <p:spPr>
          <a:xfrm rot="16200000">
            <a:off x="20367257" y="14706338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24B0D42-1B94-AA49-211F-7A0A2CC6C9B2}"/>
              </a:ext>
            </a:extLst>
          </p:cNvPr>
          <p:cNvSpPr/>
          <p:nvPr/>
        </p:nvSpPr>
        <p:spPr>
          <a:xfrm>
            <a:off x="14741993" y="20021217"/>
            <a:ext cx="11780391" cy="48329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2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Vertical mixing </a:t>
            </a:r>
            <a:r>
              <a:rPr lang="en-US" sz="2727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k_zz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4C5FB39-74ED-8CEB-FC61-DFFFB1585506}"/>
              </a:ext>
            </a:extLst>
          </p:cNvPr>
          <p:cNvSpPr/>
          <p:nvPr/>
        </p:nvSpPr>
        <p:spPr>
          <a:xfrm>
            <a:off x="18792469" y="20744761"/>
            <a:ext cx="152327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1x10</a:t>
            </a:r>
            <a:r>
              <a:rPr lang="en-US" sz="2046" baseline="30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9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2A61EBF-1F04-B5A1-0FB3-9E0F0CC70170}"/>
              </a:ext>
            </a:extLst>
          </p:cNvPr>
          <p:cNvSpPr/>
          <p:nvPr/>
        </p:nvSpPr>
        <p:spPr>
          <a:xfrm>
            <a:off x="20656739" y="20744761"/>
            <a:ext cx="1523272" cy="69725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1x10</a:t>
            </a:r>
            <a:r>
              <a:rPr lang="en-US" sz="2046" baseline="30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11</a:t>
            </a:r>
            <a:endParaRPr lang="en-US" sz="20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" pitchFamily="2" charset="77"/>
            </a:endParaRPr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9245854A-BDD3-8AB1-FA83-05D79EFD1D44}"/>
              </a:ext>
            </a:extLst>
          </p:cNvPr>
          <p:cNvSpPr/>
          <p:nvPr/>
        </p:nvSpPr>
        <p:spPr>
          <a:xfrm rot="16200000">
            <a:off x="20349298" y="17105309"/>
            <a:ext cx="283938" cy="9865326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89F5BF2-F2DA-3D35-5FC6-ECFFC9EB4092}"/>
              </a:ext>
            </a:extLst>
          </p:cNvPr>
          <p:cNvSpPr/>
          <p:nvPr/>
        </p:nvSpPr>
        <p:spPr>
          <a:xfrm>
            <a:off x="18833111" y="22313952"/>
            <a:ext cx="3237967" cy="700328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3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75 Models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7B772E4-732F-B398-498F-DA1E6887250F}"/>
              </a:ext>
            </a:extLst>
          </p:cNvPr>
          <p:cNvSpPr/>
          <p:nvPr/>
        </p:nvSpPr>
        <p:spPr>
          <a:xfrm>
            <a:off x="18841174" y="23318824"/>
            <a:ext cx="3237967" cy="700328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3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485 spectra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09D3266-C09C-9B3D-C8FD-210BF84E6E2E}"/>
              </a:ext>
            </a:extLst>
          </p:cNvPr>
          <p:cNvSpPr/>
          <p:nvPr/>
        </p:nvSpPr>
        <p:spPr>
          <a:xfrm>
            <a:off x="22816639" y="22397826"/>
            <a:ext cx="3237967" cy="1421750"/>
          </a:xfrm>
          <a:prstGeom prst="rect">
            <a:avLst/>
          </a:prstGeom>
          <a:solidFill>
            <a:srgbClr val="A6A6A6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3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36,375 total spectra</a:t>
            </a:r>
          </a:p>
        </p:txBody>
      </p:sp>
      <p:sp>
        <p:nvSpPr>
          <p:cNvPr id="96" name="Left Brace 95">
            <a:extLst>
              <a:ext uri="{FF2B5EF4-FFF2-40B4-BE49-F238E27FC236}">
                <a16:creationId xmlns:a16="http://schemas.microsoft.com/office/drawing/2014/main" id="{59100431-2A16-6C65-8FF7-CAB2D1952499}"/>
              </a:ext>
            </a:extLst>
          </p:cNvPr>
          <p:cNvSpPr/>
          <p:nvPr/>
        </p:nvSpPr>
        <p:spPr>
          <a:xfrm rot="10800000">
            <a:off x="22261347" y="22515881"/>
            <a:ext cx="216123" cy="1185645"/>
          </a:xfrm>
          <a:prstGeom prst="leftBrac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</p:spTree>
    <p:extLst>
      <p:ext uri="{BB962C8B-B14F-4D97-AF65-F5344CB8AC3E}">
        <p14:creationId xmlns:p14="http://schemas.microsoft.com/office/powerpoint/2010/main" val="166097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E9786F46-72BF-D5A7-7A6E-53B41AC7F619}"/>
              </a:ext>
            </a:extLst>
          </p:cNvPr>
          <p:cNvCxnSpPr>
            <a:cxnSpLocks/>
            <a:stCxn id="20" idx="3"/>
            <a:endCxn id="39" idx="1"/>
          </p:cNvCxnSpPr>
          <p:nvPr/>
        </p:nvCxnSpPr>
        <p:spPr>
          <a:xfrm flipV="1">
            <a:off x="-31735273" y="-13778754"/>
            <a:ext cx="11651549" cy="6904466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6726D913-A4E3-8E91-BE05-C8B37452682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-41036749" y="-11313585"/>
            <a:ext cx="10376572" cy="5248642"/>
          </a:xfrm>
          <a:prstGeom prst="bentConnector3">
            <a:avLst>
              <a:gd name="adj1" fmla="val 14534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FF9693-A440-3ABA-AC73-189949FCBEEA}"/>
              </a:ext>
            </a:extLst>
          </p:cNvPr>
          <p:cNvSpPr/>
          <p:nvPr/>
        </p:nvSpPr>
        <p:spPr>
          <a:xfrm>
            <a:off x="-44291837" y="-1423453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Planet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ACE8245-A197-70BB-37E3-E528FBD0C59A}"/>
              </a:ext>
            </a:extLst>
          </p:cNvPr>
          <p:cNvSpPr/>
          <p:nvPr/>
        </p:nvSpPr>
        <p:spPr>
          <a:xfrm>
            <a:off x="-44291835" y="-1543172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star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13215C-29A7-8A42-E84E-05B06CB1479A}"/>
              </a:ext>
            </a:extLst>
          </p:cNvPr>
          <p:cNvSpPr/>
          <p:nvPr/>
        </p:nvSpPr>
        <p:spPr>
          <a:xfrm>
            <a:off x="-44291839" y="-1184015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cloud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2187CB9-E275-AE72-50E5-3F396461454A}"/>
              </a:ext>
            </a:extLst>
          </p:cNvPr>
          <p:cNvSpPr/>
          <p:nvPr/>
        </p:nvSpPr>
        <p:spPr>
          <a:xfrm>
            <a:off x="-44291839" y="-1303734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36" dirty="0">
                <a:latin typeface="Cubano" pitchFamily="2" charset="0"/>
              </a:rPr>
              <a:t>Calculation setup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0637BB-4A33-36FD-6415-A2967FCBBE89}"/>
              </a:ext>
            </a:extLst>
          </p:cNvPr>
          <p:cNvSpPr/>
          <p:nvPr/>
        </p:nvSpPr>
        <p:spPr>
          <a:xfrm>
            <a:off x="-45271645" y="-16763757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inputs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A41C19-09CC-5D09-A5D3-34049A8D7ABE}"/>
              </a:ext>
            </a:extLst>
          </p:cNvPr>
          <p:cNvSpPr/>
          <p:nvPr/>
        </p:nvSpPr>
        <p:spPr>
          <a:xfrm>
            <a:off x="-45271642" y="-15655093"/>
            <a:ext cx="5214697" cy="5235500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4DFF5B-EDEC-6FC4-6D40-2306FD5146FA}"/>
              </a:ext>
            </a:extLst>
          </p:cNvPr>
          <p:cNvSpPr/>
          <p:nvPr/>
        </p:nvSpPr>
        <p:spPr>
          <a:xfrm>
            <a:off x="-39077138" y="-16677242"/>
            <a:ext cx="4033728" cy="200945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Star Spectrum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7FB087-345C-6929-0F39-5FC7F7314847}"/>
              </a:ext>
            </a:extLst>
          </p:cNvPr>
          <p:cNvSpPr/>
          <p:nvPr/>
        </p:nvSpPr>
        <p:spPr>
          <a:xfrm>
            <a:off x="-38503457" y="-15000068"/>
            <a:ext cx="2886363" cy="76553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Phoenix</a:t>
            </a:r>
            <a:endParaRPr lang="en-US" sz="3182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68D7FE5-1E55-02B5-AE94-52D1D1052809}"/>
              </a:ext>
            </a:extLst>
          </p:cNvPr>
          <p:cNvCxnSpPr>
            <a:cxnSpLocks/>
          </p:cNvCxnSpPr>
          <p:nvPr/>
        </p:nvCxnSpPr>
        <p:spPr>
          <a:xfrm>
            <a:off x="-39741264" y="-13418690"/>
            <a:ext cx="6814622" cy="446417"/>
          </a:xfrm>
          <a:prstGeom prst="bentConnector3">
            <a:avLst>
              <a:gd name="adj1" fmla="val 72872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456F91FB-E4BA-2707-01CC-A2738CCF4CA1}"/>
              </a:ext>
            </a:extLst>
          </p:cNvPr>
          <p:cNvCxnSpPr>
            <a:cxnSpLocks/>
            <a:stCxn id="7" idx="3"/>
            <a:endCxn id="12" idx="2"/>
          </p:cNvCxnSpPr>
          <p:nvPr/>
        </p:nvCxnSpPr>
        <p:spPr>
          <a:xfrm flipV="1">
            <a:off x="-41036748" y="-15672514"/>
            <a:ext cx="1959607" cy="767357"/>
          </a:xfrm>
          <a:prstGeom prst="bentConnector3">
            <a:avLst>
              <a:gd name="adj1" fmla="val 74549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5FD3019-CCF8-97BF-2905-6BC77107AB27}"/>
              </a:ext>
            </a:extLst>
          </p:cNvPr>
          <p:cNvSpPr/>
          <p:nvPr/>
        </p:nvSpPr>
        <p:spPr>
          <a:xfrm>
            <a:off x="-39077138" y="-13663057"/>
            <a:ext cx="4033728" cy="200945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itchFamily="2" charset="77"/>
              </a:rPr>
              <a:t>Initial P(T) guess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60095BFC-6667-3270-04AB-4419A3B4DB37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-41036747" y="-13707967"/>
            <a:ext cx="1959608" cy="1049639"/>
          </a:xfrm>
          <a:prstGeom prst="bentConnector3">
            <a:avLst>
              <a:gd name="adj1" fmla="val 66693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7D974BA-340B-5C7F-70B7-4D07DDB77456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-41036749" y="-12658326"/>
            <a:ext cx="1959610" cy="147551"/>
          </a:xfrm>
          <a:prstGeom prst="bentConnector3">
            <a:avLst>
              <a:gd name="adj1" fmla="val 66693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42FA1B0-38A5-4B99-2BA9-EFEB63D3A73A}"/>
              </a:ext>
            </a:extLst>
          </p:cNvPr>
          <p:cNvSpPr/>
          <p:nvPr/>
        </p:nvSpPr>
        <p:spPr>
          <a:xfrm>
            <a:off x="-29811964" y="-17595995"/>
            <a:ext cx="6935749" cy="17444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Climate calculation step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DCE24A1-80C9-A595-1C7B-8AE5B2DF9B12}"/>
              </a:ext>
            </a:extLst>
          </p:cNvPr>
          <p:cNvSpPr/>
          <p:nvPr/>
        </p:nvSpPr>
        <p:spPr>
          <a:xfrm>
            <a:off x="-39077141" y="-9577505"/>
            <a:ext cx="7341868" cy="5406433"/>
          </a:xfrm>
          <a:prstGeom prst="roundRect">
            <a:avLst/>
          </a:prstGeom>
          <a:noFill/>
          <a:ln w="127000">
            <a:solidFill>
              <a:srgbClr val="97B6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0D4122D-AA83-D034-A5E3-23CAAE3F5AF1}"/>
              </a:ext>
            </a:extLst>
          </p:cNvPr>
          <p:cNvSpPr/>
          <p:nvPr/>
        </p:nvSpPr>
        <p:spPr>
          <a:xfrm>
            <a:off x="-29797227" y="-15494866"/>
            <a:ext cx="6708818" cy="2812631"/>
          </a:xfrm>
          <a:prstGeom prst="roundRect">
            <a:avLst/>
          </a:prstGeom>
          <a:solidFill>
            <a:srgbClr val="97B6B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b="1" dirty="0">
                <a:latin typeface="Montserrat SemiBold" pitchFamily="2" charset="77"/>
              </a:rPr>
              <a:t>RCE, chemical equilibrium, iterative solution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ACC264-E4AB-D5E5-2170-C71DCE883906}"/>
              </a:ext>
            </a:extLst>
          </p:cNvPr>
          <p:cNvSpPr/>
          <p:nvPr/>
        </p:nvSpPr>
        <p:spPr>
          <a:xfrm>
            <a:off x="-37993575" y="-10691618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outputs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AF63FFA-BE0E-D985-B46B-5413193C69DA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-35043412" y="-15672514"/>
            <a:ext cx="2116768" cy="2700239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5C64B7B-8FCB-DBEB-6A8F-FFFEEA0E421B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-35043411" y="-12972276"/>
            <a:ext cx="2102031" cy="313948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832D6C4-1936-D906-82DA-DF9D403604A8}"/>
              </a:ext>
            </a:extLst>
          </p:cNvPr>
          <p:cNvSpPr/>
          <p:nvPr/>
        </p:nvSpPr>
        <p:spPr>
          <a:xfrm>
            <a:off x="-37919330" y="-9285301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P(T) Profile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996351E-8411-0741-5924-0DCFA0EE9445}"/>
              </a:ext>
            </a:extLst>
          </p:cNvPr>
          <p:cNvSpPr/>
          <p:nvPr/>
        </p:nvSpPr>
        <p:spPr>
          <a:xfrm>
            <a:off x="-37899349" y="-7939968"/>
            <a:ext cx="5026249" cy="1696252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Molecular abundances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FB4F8AF-6760-4825-F6B0-8D9D11E42976}"/>
              </a:ext>
            </a:extLst>
          </p:cNvPr>
          <p:cNvSpPr/>
          <p:nvPr/>
        </p:nvSpPr>
        <p:spPr>
          <a:xfrm>
            <a:off x="-37952891" y="-6140987"/>
            <a:ext cx="5026249" cy="1696252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dirty="0">
                <a:latin typeface="Cubano" pitchFamily="2" charset="0"/>
              </a:rPr>
              <a:t>Energy transport in atm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04F8B74-3BEB-D7CB-336A-3C7DE3B9B42C}"/>
              </a:ext>
            </a:extLst>
          </p:cNvPr>
          <p:cNvCxnSpPr>
            <a:cxnSpLocks/>
            <a:endCxn id="22" idx="0"/>
          </p:cNvCxnSpPr>
          <p:nvPr/>
        </p:nvCxnSpPr>
        <p:spPr>
          <a:xfrm rot="5400000">
            <a:off x="-32916397" y="-14035785"/>
            <a:ext cx="874342" cy="5813991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215E161-8D72-35CC-CEE3-1837C4CDA89C}"/>
              </a:ext>
            </a:extLst>
          </p:cNvPr>
          <p:cNvSpPr/>
          <p:nvPr/>
        </p:nvSpPr>
        <p:spPr>
          <a:xfrm>
            <a:off x="-27616772" y="-11434141"/>
            <a:ext cx="6935749" cy="307586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Cloud postprocessing step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D8DBB57-7503-C913-DB39-6EDA65685C88}"/>
              </a:ext>
            </a:extLst>
          </p:cNvPr>
          <p:cNvSpPr/>
          <p:nvPr/>
        </p:nvSpPr>
        <p:spPr>
          <a:xfrm>
            <a:off x="-27530762" y="-8232168"/>
            <a:ext cx="6708818" cy="2101891"/>
          </a:xfrm>
          <a:prstGeom prst="roundRect">
            <a:avLst/>
          </a:prstGeom>
          <a:solidFill>
            <a:srgbClr val="ECBF8F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b="1" dirty="0">
                <a:latin typeface="Montserrat SemiBold" pitchFamily="2" charset="77"/>
              </a:rPr>
              <a:t>Calculation of cloud profile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21814D-3BB5-BA4F-9A3F-5B952BEE9E62}"/>
              </a:ext>
            </a:extLst>
          </p:cNvPr>
          <p:cNvSpPr/>
          <p:nvPr/>
        </p:nvSpPr>
        <p:spPr>
          <a:xfrm>
            <a:off x="-27787272" y="-13120665"/>
            <a:ext cx="2886363" cy="76553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46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picaso</a:t>
            </a:r>
            <a:endParaRPr lang="en-US" sz="3182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015B2A-0145-9C90-5E1B-BF2A272B5409}"/>
              </a:ext>
            </a:extLst>
          </p:cNvPr>
          <p:cNvSpPr/>
          <p:nvPr/>
        </p:nvSpPr>
        <p:spPr>
          <a:xfrm>
            <a:off x="-25787971" y="-6418777"/>
            <a:ext cx="2886363" cy="76553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46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virga</a:t>
            </a:r>
            <a:endParaRPr lang="en-US" sz="3182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19A5B65-9F03-64A5-5BF2-1CBA1C5A5851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-31735273" y="-14748090"/>
            <a:ext cx="3986597" cy="7873802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E812ADE-F87B-8F55-143F-D6A6EB16ED9A}"/>
              </a:ext>
            </a:extLst>
          </p:cNvPr>
          <p:cNvSpPr/>
          <p:nvPr/>
        </p:nvSpPr>
        <p:spPr>
          <a:xfrm>
            <a:off x="-19630573" y="-8303033"/>
            <a:ext cx="7341868" cy="1884258"/>
          </a:xfrm>
          <a:prstGeom prst="roundRect">
            <a:avLst/>
          </a:prstGeom>
          <a:noFill/>
          <a:ln w="127000">
            <a:solidFill>
              <a:srgbClr val="ECB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DF73DA-7364-42FC-185D-7913FF0C7ED8}"/>
              </a:ext>
            </a:extLst>
          </p:cNvPr>
          <p:cNvSpPr/>
          <p:nvPr/>
        </p:nvSpPr>
        <p:spPr>
          <a:xfrm>
            <a:off x="-18547007" y="-9417147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outputs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B09BA97-C7CE-1957-8545-2F207317D427}"/>
              </a:ext>
            </a:extLst>
          </p:cNvPr>
          <p:cNvSpPr/>
          <p:nvPr/>
        </p:nvSpPr>
        <p:spPr>
          <a:xfrm>
            <a:off x="-18472763" y="-8010830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cloud Profile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5308512C-2A28-F3D5-29EC-15EB2C85049E}"/>
              </a:ext>
            </a:extLst>
          </p:cNvPr>
          <p:cNvCxnSpPr>
            <a:cxnSpLocks/>
            <a:stCxn id="30" idx="3"/>
            <a:endCxn id="34" idx="1"/>
          </p:cNvCxnSpPr>
          <p:nvPr/>
        </p:nvCxnSpPr>
        <p:spPr>
          <a:xfrm flipV="1">
            <a:off x="-20821944" y="-7360903"/>
            <a:ext cx="1191372" cy="179683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38AC846-610A-50D6-ED97-F889F0B1C7F1}"/>
              </a:ext>
            </a:extLst>
          </p:cNvPr>
          <p:cNvSpPr/>
          <p:nvPr/>
        </p:nvSpPr>
        <p:spPr>
          <a:xfrm>
            <a:off x="-20197189" y="-17806170"/>
            <a:ext cx="6935749" cy="236033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Spectrum calculation step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8F4C9A9-8FF4-4697-471E-BAC25C50E7CB}"/>
              </a:ext>
            </a:extLst>
          </p:cNvPr>
          <p:cNvSpPr/>
          <p:nvPr/>
        </p:nvSpPr>
        <p:spPr>
          <a:xfrm>
            <a:off x="-20083724" y="-15202379"/>
            <a:ext cx="6708818" cy="2847249"/>
          </a:xfrm>
          <a:prstGeom prst="roundRect">
            <a:avLst/>
          </a:prstGeom>
          <a:solidFill>
            <a:srgbClr val="D5734A">
              <a:alpha val="78875"/>
            </a:srgb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91" b="1" dirty="0">
                <a:latin typeface="Montserrat SemiBold" pitchFamily="2" charset="77"/>
              </a:rPr>
              <a:t>Calculation of cloud-free and cloudy albedo and planet-star flux contrast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209EEFF-2356-A792-3601-2CEA114A1AB2}"/>
              </a:ext>
            </a:extLst>
          </p:cNvPr>
          <p:cNvCxnSpPr>
            <a:cxnSpLocks/>
            <a:stCxn id="35" idx="0"/>
            <a:endCxn id="41" idx="2"/>
          </p:cNvCxnSpPr>
          <p:nvPr/>
        </p:nvCxnSpPr>
        <p:spPr>
          <a:xfrm rot="16200000" flipV="1">
            <a:off x="-17520503" y="-10997993"/>
            <a:ext cx="2372039" cy="789658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EA4412F-5972-FDDB-20CD-7819006E35C4}"/>
              </a:ext>
            </a:extLst>
          </p:cNvPr>
          <p:cNvSpPr/>
          <p:nvPr/>
        </p:nvSpPr>
        <p:spPr>
          <a:xfrm>
            <a:off x="-18172497" y="-12554719"/>
            <a:ext cx="2886363" cy="76553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46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picaso</a:t>
            </a:r>
            <a:endParaRPr lang="en-US" sz="3182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11659F9-F394-435C-2CD4-E95F9A5C2AEA}"/>
              </a:ext>
            </a:extLst>
          </p:cNvPr>
          <p:cNvSpPr/>
          <p:nvPr/>
        </p:nvSpPr>
        <p:spPr>
          <a:xfrm>
            <a:off x="-11371603" y="-15445835"/>
            <a:ext cx="7341868" cy="8829967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F67D29-3F9E-1C68-452B-9BD8603A5DB3}"/>
              </a:ext>
            </a:extLst>
          </p:cNvPr>
          <p:cNvSpPr/>
          <p:nvPr/>
        </p:nvSpPr>
        <p:spPr>
          <a:xfrm>
            <a:off x="-10288038" y="-17663622"/>
            <a:ext cx="5214698" cy="203460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Final outputs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ECE22AC-6059-126C-E79A-D36BC01C37AB}"/>
              </a:ext>
            </a:extLst>
          </p:cNvPr>
          <p:cNvSpPr/>
          <p:nvPr/>
        </p:nvSpPr>
        <p:spPr>
          <a:xfrm>
            <a:off x="-10213793" y="-15153634"/>
            <a:ext cx="5026249" cy="1703059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Star spectrum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CD1313A-5D66-ABBB-4421-019E5F469D3D}"/>
              </a:ext>
            </a:extLst>
          </p:cNvPr>
          <p:cNvSpPr/>
          <p:nvPr/>
        </p:nvSpPr>
        <p:spPr>
          <a:xfrm>
            <a:off x="-10235342" y="-13314235"/>
            <a:ext cx="5026249" cy="1703059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albedo spectrum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89F5BBB-60F3-D6C4-EA3F-1F2CF9A61D72}"/>
              </a:ext>
            </a:extLst>
          </p:cNvPr>
          <p:cNvSpPr/>
          <p:nvPr/>
        </p:nvSpPr>
        <p:spPr>
          <a:xfrm>
            <a:off x="-10243607" y="-11471323"/>
            <a:ext cx="5026249" cy="2563141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Flux contrast spectrum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E24D833-D883-1FA4-7054-6B8FF0BFE15B}"/>
              </a:ext>
            </a:extLst>
          </p:cNvPr>
          <p:cNvSpPr/>
          <p:nvPr/>
        </p:nvSpPr>
        <p:spPr>
          <a:xfrm>
            <a:off x="-10243608" y="-8716384"/>
            <a:ext cx="5026249" cy="1703059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Planet spectrum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D4B59B6A-D81E-5748-A7CB-0FB501C5956E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>
            <a:off x="-13374905" y="-13778755"/>
            <a:ext cx="2003302" cy="2747902"/>
          </a:xfrm>
          <a:prstGeom prst="bentConnector3">
            <a:avLst>
              <a:gd name="adj1" fmla="val 50000"/>
            </a:avLst>
          </a:prstGeom>
          <a:ln w="1270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0F4AF2E-AA42-094B-009C-657C4F1394CD}"/>
              </a:ext>
            </a:extLst>
          </p:cNvPr>
          <p:cNvSpPr/>
          <p:nvPr/>
        </p:nvSpPr>
        <p:spPr>
          <a:xfrm>
            <a:off x="4041280" y="509241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M2V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E673B1F-1621-9876-2FBF-6BF8F946468B}"/>
              </a:ext>
            </a:extLst>
          </p:cNvPr>
          <p:cNvSpPr/>
          <p:nvPr/>
        </p:nvSpPr>
        <p:spPr>
          <a:xfrm>
            <a:off x="4041281" y="389522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M5V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E7AFCCF2-F81B-BC67-2FD6-9B20213F2C5D}"/>
              </a:ext>
            </a:extLst>
          </p:cNvPr>
          <p:cNvSpPr/>
          <p:nvPr/>
        </p:nvSpPr>
        <p:spPr>
          <a:xfrm>
            <a:off x="4041278" y="7486791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K2V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87A5C08-A7C3-9F78-EC8D-3285C4F90F93}"/>
              </a:ext>
            </a:extLst>
          </p:cNvPr>
          <p:cNvSpPr/>
          <p:nvPr/>
        </p:nvSpPr>
        <p:spPr>
          <a:xfrm>
            <a:off x="4041278" y="6289601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latin typeface="Cubano" pitchFamily="2" charset="0"/>
              </a:rPr>
              <a:t>K8V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E42C894-5F95-0673-7684-004E8D1F0CD9}"/>
              </a:ext>
            </a:extLst>
          </p:cNvPr>
          <p:cNvSpPr/>
          <p:nvPr/>
        </p:nvSpPr>
        <p:spPr>
          <a:xfrm>
            <a:off x="3061470" y="2563183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Star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970320E6-2AC4-20B6-D746-FE508AD180A1}"/>
              </a:ext>
            </a:extLst>
          </p:cNvPr>
          <p:cNvSpPr/>
          <p:nvPr/>
        </p:nvSpPr>
        <p:spPr>
          <a:xfrm>
            <a:off x="3061476" y="3671849"/>
            <a:ext cx="5214697" cy="6389411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B6284BF-06F3-AF48-8D0E-9107C76BF364}"/>
              </a:ext>
            </a:extLst>
          </p:cNvPr>
          <p:cNvSpPr/>
          <p:nvPr/>
        </p:nvSpPr>
        <p:spPr>
          <a:xfrm>
            <a:off x="4041276" y="8703180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F1V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408403D-628C-0DDF-0A22-C82E830A5F27}"/>
              </a:ext>
            </a:extLst>
          </p:cNvPr>
          <p:cNvSpPr/>
          <p:nvPr/>
        </p:nvSpPr>
        <p:spPr>
          <a:xfrm>
            <a:off x="9864521" y="5092412"/>
            <a:ext cx="5359065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 err="1">
                <a:latin typeface="Cubano" pitchFamily="2" charset="0"/>
              </a:rPr>
              <a:t>superneptune</a:t>
            </a:r>
            <a:endParaRPr lang="en-US" sz="5455" dirty="0">
              <a:latin typeface="Cubano" pitchFamily="2" charset="0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2507313F-B570-01AB-9C1D-F79A71C8EBDE}"/>
              </a:ext>
            </a:extLst>
          </p:cNvPr>
          <p:cNvSpPr/>
          <p:nvPr/>
        </p:nvSpPr>
        <p:spPr>
          <a:xfrm>
            <a:off x="9864522" y="3895222"/>
            <a:ext cx="5359065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Neptune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6336FB2-E084-5B96-9CAF-FA56458C1E1F}"/>
              </a:ext>
            </a:extLst>
          </p:cNvPr>
          <p:cNvSpPr/>
          <p:nvPr/>
        </p:nvSpPr>
        <p:spPr>
          <a:xfrm>
            <a:off x="9864518" y="7486791"/>
            <a:ext cx="5359065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 err="1">
                <a:latin typeface="Cubano" pitchFamily="2" charset="0"/>
              </a:rPr>
              <a:t>jupiter</a:t>
            </a:r>
            <a:endParaRPr lang="en-US" sz="5455" dirty="0">
              <a:latin typeface="Cubano" pitchFamily="2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721ECCA-907E-7FCE-7558-D4A8C0613707}"/>
              </a:ext>
            </a:extLst>
          </p:cNvPr>
          <p:cNvSpPr/>
          <p:nvPr/>
        </p:nvSpPr>
        <p:spPr>
          <a:xfrm>
            <a:off x="9864518" y="6289601"/>
            <a:ext cx="5359065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 err="1">
                <a:latin typeface="Cubano" pitchFamily="2" charset="0"/>
              </a:rPr>
              <a:t>saturn</a:t>
            </a:r>
            <a:endParaRPr lang="en-US" sz="6137" dirty="0">
              <a:latin typeface="Cubano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D9CDF48-47A2-1480-9C82-967403249565}"/>
              </a:ext>
            </a:extLst>
          </p:cNvPr>
          <p:cNvSpPr/>
          <p:nvPr/>
        </p:nvSpPr>
        <p:spPr>
          <a:xfrm>
            <a:off x="9933870" y="2629229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Planet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1084196-F5C1-8653-0E18-17D747EC5B11}"/>
              </a:ext>
            </a:extLst>
          </p:cNvPr>
          <p:cNvSpPr/>
          <p:nvPr/>
        </p:nvSpPr>
        <p:spPr>
          <a:xfrm>
            <a:off x="8884711" y="3671849"/>
            <a:ext cx="7313016" cy="6389411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20025A1-4A1F-615D-4620-D885BD876F71}"/>
              </a:ext>
            </a:extLst>
          </p:cNvPr>
          <p:cNvSpPr/>
          <p:nvPr/>
        </p:nvSpPr>
        <p:spPr>
          <a:xfrm>
            <a:off x="9864516" y="8703180"/>
            <a:ext cx="5359065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 err="1">
                <a:latin typeface="Cubano" pitchFamily="2" charset="0"/>
              </a:rPr>
              <a:t>superjupiter</a:t>
            </a:r>
            <a:endParaRPr lang="en-US" sz="5455" dirty="0">
              <a:latin typeface="Cubano" pitchFamily="2" charset="0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A1F0EB62-1386-BB16-5F6C-FD2ABB99E16D}"/>
              </a:ext>
            </a:extLst>
          </p:cNvPr>
          <p:cNvSpPr/>
          <p:nvPr/>
        </p:nvSpPr>
        <p:spPr>
          <a:xfrm>
            <a:off x="17753605" y="6289601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1.0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713C4AB-EE28-3A46-6BAB-2D3FB713D637}"/>
              </a:ext>
            </a:extLst>
          </p:cNvPr>
          <p:cNvSpPr/>
          <p:nvPr/>
        </p:nvSpPr>
        <p:spPr>
          <a:xfrm>
            <a:off x="17753606" y="5092412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0.5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0ABC3B6-B55B-963E-9E39-C378E53B64BD}"/>
              </a:ext>
            </a:extLst>
          </p:cNvPr>
          <p:cNvSpPr/>
          <p:nvPr/>
        </p:nvSpPr>
        <p:spPr>
          <a:xfrm>
            <a:off x="17753603" y="7486791"/>
            <a:ext cx="325509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latin typeface="Cubano" pitchFamily="2" charset="0"/>
              </a:rPr>
              <a:t>1.5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1076DB6-5463-85C7-90B9-D6A5C824C5B9}"/>
              </a:ext>
            </a:extLst>
          </p:cNvPr>
          <p:cNvSpPr/>
          <p:nvPr/>
        </p:nvSpPr>
        <p:spPr>
          <a:xfrm>
            <a:off x="16806267" y="2563183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C/O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66EFF5ED-6C80-5820-22DC-102CAE787FE0}"/>
              </a:ext>
            </a:extLst>
          </p:cNvPr>
          <p:cNvSpPr/>
          <p:nvPr/>
        </p:nvSpPr>
        <p:spPr>
          <a:xfrm>
            <a:off x="16806273" y="3671849"/>
            <a:ext cx="5214697" cy="6389411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1FD11C9-4AD6-B01F-04BE-B0B29D5EDFF5}"/>
              </a:ext>
            </a:extLst>
          </p:cNvPr>
          <p:cNvSpPr/>
          <p:nvPr/>
        </p:nvSpPr>
        <p:spPr>
          <a:xfrm>
            <a:off x="25459874" y="3743255"/>
            <a:ext cx="6267017" cy="10643190"/>
          </a:xfrm>
          <a:prstGeom prst="roundRect">
            <a:avLst/>
          </a:prstGeom>
          <a:noFill/>
          <a:ln w="127000">
            <a:solidFill>
              <a:srgbClr val="97B6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A698918-12C3-23E1-ACEE-7D6EFDC4BDC9}"/>
              </a:ext>
            </a:extLst>
          </p:cNvPr>
          <p:cNvSpPr/>
          <p:nvPr/>
        </p:nvSpPr>
        <p:spPr>
          <a:xfrm>
            <a:off x="26033253" y="2634590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Eq Temp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1A8AA430-676C-7178-8AF0-0348B383E556}"/>
              </a:ext>
            </a:extLst>
          </p:cNvPr>
          <p:cNvSpPr/>
          <p:nvPr/>
        </p:nvSpPr>
        <p:spPr>
          <a:xfrm>
            <a:off x="26161040" y="3966628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75 K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6F20F7E-EAA9-24BA-5E8F-0B9AFB2BDBB0}"/>
              </a:ext>
            </a:extLst>
          </p:cNvPr>
          <p:cNvSpPr/>
          <p:nvPr/>
        </p:nvSpPr>
        <p:spPr>
          <a:xfrm>
            <a:off x="26127480" y="5243132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100 K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3573A7B5-8CC3-BD95-9FB4-8231A4F6B914}"/>
              </a:ext>
            </a:extLst>
          </p:cNvPr>
          <p:cNvSpPr/>
          <p:nvPr/>
        </p:nvSpPr>
        <p:spPr>
          <a:xfrm>
            <a:off x="26127479" y="6519635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150 K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23438AE9-1F07-30FC-DFD7-49353C026523}"/>
              </a:ext>
            </a:extLst>
          </p:cNvPr>
          <p:cNvSpPr/>
          <p:nvPr/>
        </p:nvSpPr>
        <p:spPr>
          <a:xfrm>
            <a:off x="26127479" y="7796138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180 K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0A49CC2-C3AD-DDBB-B911-0841F48403FC}"/>
              </a:ext>
            </a:extLst>
          </p:cNvPr>
          <p:cNvSpPr/>
          <p:nvPr/>
        </p:nvSpPr>
        <p:spPr>
          <a:xfrm>
            <a:off x="26093919" y="9072642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200 K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7E69C4E-4CFC-0F29-A7DB-ADB1D1B6AC72}"/>
              </a:ext>
            </a:extLst>
          </p:cNvPr>
          <p:cNvSpPr/>
          <p:nvPr/>
        </p:nvSpPr>
        <p:spPr>
          <a:xfrm>
            <a:off x="26093918" y="10349145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250 K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29B2A273-9691-3B79-4B43-12DDD3B75713}"/>
              </a:ext>
            </a:extLst>
          </p:cNvPr>
          <p:cNvSpPr/>
          <p:nvPr/>
        </p:nvSpPr>
        <p:spPr>
          <a:xfrm>
            <a:off x="26066818" y="11625649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300 K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2854ED0A-8F58-2716-F3B7-C52C1CFF0783}"/>
              </a:ext>
            </a:extLst>
          </p:cNvPr>
          <p:cNvSpPr/>
          <p:nvPr/>
        </p:nvSpPr>
        <p:spPr>
          <a:xfrm>
            <a:off x="26033258" y="12902152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500 K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2A699CE0-FDA9-2357-0A9A-E343B3176ACF}"/>
              </a:ext>
            </a:extLst>
          </p:cNvPr>
          <p:cNvSpPr/>
          <p:nvPr/>
        </p:nvSpPr>
        <p:spPr>
          <a:xfrm>
            <a:off x="32428058" y="3743255"/>
            <a:ext cx="6267017" cy="10643190"/>
          </a:xfrm>
          <a:prstGeom prst="roundRect">
            <a:avLst/>
          </a:prstGeom>
          <a:noFill/>
          <a:ln w="127000">
            <a:solidFill>
              <a:srgbClr val="97B6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04BADC8-7BA1-C9ED-94D6-00649EA30F68}"/>
              </a:ext>
            </a:extLst>
          </p:cNvPr>
          <p:cNvSpPr/>
          <p:nvPr/>
        </p:nvSpPr>
        <p:spPr>
          <a:xfrm>
            <a:off x="33001437" y="2634590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Phase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62EA5FCD-9970-CAD9-4203-EB6A19CCD8C7}"/>
              </a:ext>
            </a:extLst>
          </p:cNvPr>
          <p:cNvSpPr/>
          <p:nvPr/>
        </p:nvSpPr>
        <p:spPr>
          <a:xfrm>
            <a:off x="33068562" y="5769698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0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D1551B96-31AA-06A8-4497-E00F6AB25E0C}"/>
              </a:ext>
            </a:extLst>
          </p:cNvPr>
          <p:cNvSpPr/>
          <p:nvPr/>
        </p:nvSpPr>
        <p:spPr>
          <a:xfrm>
            <a:off x="33035002" y="7046201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45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37411AF9-D1A8-1D10-AC74-3E6443C40718}"/>
              </a:ext>
            </a:extLst>
          </p:cNvPr>
          <p:cNvSpPr/>
          <p:nvPr/>
        </p:nvSpPr>
        <p:spPr>
          <a:xfrm>
            <a:off x="33035001" y="8322704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90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9229F63D-B833-3A6E-EAC6-B7DBACFA631D}"/>
              </a:ext>
            </a:extLst>
          </p:cNvPr>
          <p:cNvSpPr/>
          <p:nvPr/>
        </p:nvSpPr>
        <p:spPr>
          <a:xfrm>
            <a:off x="33035001" y="9599208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120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0C926F07-01A6-F089-AD79-C3520DF30562}"/>
              </a:ext>
            </a:extLst>
          </p:cNvPr>
          <p:cNvSpPr/>
          <p:nvPr/>
        </p:nvSpPr>
        <p:spPr>
          <a:xfrm>
            <a:off x="33001440" y="10875711"/>
            <a:ext cx="5026249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140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B2896BC8-7F00-8B99-C9D2-AA9DD43A83B0}"/>
              </a:ext>
            </a:extLst>
          </p:cNvPr>
          <p:cNvSpPr/>
          <p:nvPr/>
        </p:nvSpPr>
        <p:spPr>
          <a:xfrm>
            <a:off x="7113964" y="14894863"/>
            <a:ext cx="7341868" cy="8196717"/>
          </a:xfrm>
          <a:prstGeom prst="roundRect">
            <a:avLst/>
          </a:prstGeom>
          <a:noFill/>
          <a:ln w="127000">
            <a:solidFill>
              <a:srgbClr val="ECB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6D44E53-64FF-A145-C46F-3F096B686F1A}"/>
              </a:ext>
            </a:extLst>
          </p:cNvPr>
          <p:cNvSpPr/>
          <p:nvPr/>
        </p:nvSpPr>
        <p:spPr>
          <a:xfrm>
            <a:off x="8197530" y="13780746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F_sed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4AFAC139-D3EB-CB1F-FEA7-A75CA5A5CB70}"/>
              </a:ext>
            </a:extLst>
          </p:cNvPr>
          <p:cNvSpPr/>
          <p:nvPr/>
        </p:nvSpPr>
        <p:spPr>
          <a:xfrm>
            <a:off x="8271777" y="15154595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0.1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13D7E1BC-1798-52E6-4E43-8928DEDB177E}"/>
              </a:ext>
            </a:extLst>
          </p:cNvPr>
          <p:cNvSpPr/>
          <p:nvPr/>
        </p:nvSpPr>
        <p:spPr>
          <a:xfrm>
            <a:off x="8271777" y="16434333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0.5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98821938-B37D-AF66-D969-BAC06ED08F5D}"/>
              </a:ext>
            </a:extLst>
          </p:cNvPr>
          <p:cNvSpPr/>
          <p:nvPr/>
        </p:nvSpPr>
        <p:spPr>
          <a:xfrm>
            <a:off x="8271777" y="17696466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070A7AB2-8904-1D8E-8026-84FCA78046AE}"/>
              </a:ext>
            </a:extLst>
          </p:cNvPr>
          <p:cNvSpPr/>
          <p:nvPr/>
        </p:nvSpPr>
        <p:spPr>
          <a:xfrm>
            <a:off x="8271777" y="18988311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3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62CB016A-AEB1-561E-EF16-00DC49ADC0C5}"/>
              </a:ext>
            </a:extLst>
          </p:cNvPr>
          <p:cNvSpPr/>
          <p:nvPr/>
        </p:nvSpPr>
        <p:spPr>
          <a:xfrm>
            <a:off x="8271777" y="20268049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6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2D75A9B-483E-8153-B6D4-6A7AC44441AB}"/>
              </a:ext>
            </a:extLst>
          </p:cNvPr>
          <p:cNvSpPr/>
          <p:nvPr/>
        </p:nvSpPr>
        <p:spPr>
          <a:xfrm>
            <a:off x="8271777" y="21530181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10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76D10A1D-8715-6FDC-890C-5791756C2447}"/>
              </a:ext>
            </a:extLst>
          </p:cNvPr>
          <p:cNvSpPr/>
          <p:nvPr/>
        </p:nvSpPr>
        <p:spPr>
          <a:xfrm>
            <a:off x="16172785" y="14894863"/>
            <a:ext cx="6267017" cy="8196717"/>
          </a:xfrm>
          <a:prstGeom prst="roundRect">
            <a:avLst/>
          </a:prstGeom>
          <a:noFill/>
          <a:ln w="127000">
            <a:solidFill>
              <a:srgbClr val="ECB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AB50969-747F-3421-8743-C657579F58DB}"/>
              </a:ext>
            </a:extLst>
          </p:cNvPr>
          <p:cNvSpPr/>
          <p:nvPr/>
        </p:nvSpPr>
        <p:spPr>
          <a:xfrm>
            <a:off x="16727629" y="13780746"/>
            <a:ext cx="5214698" cy="9309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Log(K_ZZ)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289B3769-0891-C7C9-DC00-0B4B56E0470B}"/>
              </a:ext>
            </a:extLst>
          </p:cNvPr>
          <p:cNvSpPr/>
          <p:nvPr/>
        </p:nvSpPr>
        <p:spPr>
          <a:xfrm>
            <a:off x="16801876" y="17622436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9</a:t>
            </a:r>
            <a:endParaRPr lang="en-US" sz="5455" baseline="30000" dirty="0">
              <a:latin typeface="Cubano" pitchFamily="2" charset="0"/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13DF1929-A6CD-0154-5858-1E0EA69C9315}"/>
              </a:ext>
            </a:extLst>
          </p:cNvPr>
          <p:cNvSpPr/>
          <p:nvPr/>
        </p:nvSpPr>
        <p:spPr>
          <a:xfrm>
            <a:off x="16801876" y="18902174"/>
            <a:ext cx="5026249" cy="1053133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11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99B7B275-099A-08B1-D472-7F255179D16C}"/>
              </a:ext>
            </a:extLst>
          </p:cNvPr>
          <p:cNvSpPr/>
          <p:nvPr/>
        </p:nvSpPr>
        <p:spPr>
          <a:xfrm>
            <a:off x="25352098" y="16814596"/>
            <a:ext cx="6708818" cy="3545472"/>
          </a:xfrm>
          <a:prstGeom prst="roundRect">
            <a:avLst/>
          </a:prstGeom>
          <a:solidFill>
            <a:srgbClr val="D5734A">
              <a:alpha val="78875"/>
            </a:srgb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latin typeface="Montserrat SemiBold" pitchFamily="2" charset="77"/>
              </a:rPr>
              <a:t>39,000 total spectra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9C0E977C-130E-7DF1-334C-9DD40050E7C6}"/>
              </a:ext>
            </a:extLst>
          </p:cNvPr>
          <p:cNvSpPr/>
          <p:nvPr/>
        </p:nvSpPr>
        <p:spPr>
          <a:xfrm>
            <a:off x="2425963" y="2008816"/>
            <a:ext cx="20677980" cy="8994118"/>
          </a:xfrm>
          <a:prstGeom prst="roundRect">
            <a:avLst/>
          </a:prstGeom>
          <a:noFill/>
          <a:ln w="127000">
            <a:solidFill>
              <a:srgbClr val="507F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4A7B392D-8AB3-EB75-7AA8-ECEE2F2C6666}"/>
              </a:ext>
            </a:extLst>
          </p:cNvPr>
          <p:cNvSpPr/>
          <p:nvPr/>
        </p:nvSpPr>
        <p:spPr>
          <a:xfrm>
            <a:off x="24950275" y="2035592"/>
            <a:ext cx="14471486" cy="13008663"/>
          </a:xfrm>
          <a:prstGeom prst="roundRect">
            <a:avLst/>
          </a:prstGeom>
          <a:noFill/>
          <a:ln w="127000">
            <a:solidFill>
              <a:srgbClr val="97B6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0A65118-4F24-55FA-412C-F13F4065626B}"/>
              </a:ext>
            </a:extLst>
          </p:cNvPr>
          <p:cNvSpPr/>
          <p:nvPr/>
        </p:nvSpPr>
        <p:spPr>
          <a:xfrm>
            <a:off x="5766235" y="897105"/>
            <a:ext cx="13841011" cy="125340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Base model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F52303A-21AC-FAF5-8616-D98E99F56659}"/>
              </a:ext>
            </a:extLst>
          </p:cNvPr>
          <p:cNvSpPr/>
          <p:nvPr/>
        </p:nvSpPr>
        <p:spPr>
          <a:xfrm>
            <a:off x="26753064" y="950025"/>
            <a:ext cx="11025264" cy="125340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Base model has: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C93A3E64-A5E8-71D8-AD97-A5F472473193}"/>
              </a:ext>
            </a:extLst>
          </p:cNvPr>
          <p:cNvSpPr/>
          <p:nvPr/>
        </p:nvSpPr>
        <p:spPr>
          <a:xfrm>
            <a:off x="6347098" y="13156764"/>
            <a:ext cx="16840441" cy="10328034"/>
          </a:xfrm>
          <a:prstGeom prst="roundRect">
            <a:avLst/>
          </a:prstGeom>
          <a:noFill/>
          <a:ln w="127000">
            <a:solidFill>
              <a:srgbClr val="ECB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277F6D0-B25B-E092-6480-91CE6AB4C713}"/>
              </a:ext>
            </a:extLst>
          </p:cNvPr>
          <p:cNvSpPr/>
          <p:nvPr/>
        </p:nvSpPr>
        <p:spPr>
          <a:xfrm>
            <a:off x="9237068" y="12152215"/>
            <a:ext cx="11025264" cy="125340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137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bano" pitchFamily="2" charset="0"/>
              </a:rPr>
              <a:t>Each cloudy model has:</a:t>
            </a:r>
            <a:endParaRPr lang="en-US" sz="4546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ubano" pitchFamily="2" charset="0"/>
            </a:endParaRP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6A313DE2-C050-9DCA-E1A6-2ED53FBF714A}"/>
              </a:ext>
            </a:extLst>
          </p:cNvPr>
          <p:cNvSpPr/>
          <p:nvPr/>
        </p:nvSpPr>
        <p:spPr>
          <a:xfrm>
            <a:off x="9185794" y="10277346"/>
            <a:ext cx="6710850" cy="1053133"/>
          </a:xfrm>
          <a:prstGeom prst="roundRect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75 base models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3549DCDB-5E2F-6595-3E32-FA5175839DB5}"/>
              </a:ext>
            </a:extLst>
          </p:cNvPr>
          <p:cNvSpPr/>
          <p:nvPr/>
        </p:nvSpPr>
        <p:spPr>
          <a:xfrm>
            <a:off x="26517942" y="14609817"/>
            <a:ext cx="11345182" cy="1053133"/>
          </a:xfrm>
          <a:prstGeom prst="roundRect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75x40 Climate models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5246FE64-3BD0-A529-26F8-C8763B7C3233}"/>
              </a:ext>
            </a:extLst>
          </p:cNvPr>
          <p:cNvSpPr/>
          <p:nvPr/>
        </p:nvSpPr>
        <p:spPr>
          <a:xfrm>
            <a:off x="10990565" y="23212365"/>
            <a:ext cx="8293773" cy="1839876"/>
          </a:xfrm>
          <a:prstGeom prst="roundRect">
            <a:avLst/>
          </a:prstGeom>
          <a:solidFill>
            <a:srgbClr val="ECB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55" dirty="0">
                <a:latin typeface="Cubano" pitchFamily="2" charset="0"/>
              </a:rPr>
              <a:t>12 cloudy spectra + 1 cloud-free</a:t>
            </a:r>
          </a:p>
        </p:txBody>
      </p:sp>
      <p:sp>
        <p:nvSpPr>
          <p:cNvPr id="129" name="Right Arrow 128">
            <a:extLst>
              <a:ext uri="{FF2B5EF4-FFF2-40B4-BE49-F238E27FC236}">
                <a16:creationId xmlns:a16="http://schemas.microsoft.com/office/drawing/2014/main" id="{682C71D9-D377-FB3D-B34A-7026CC2F3229}"/>
              </a:ext>
            </a:extLst>
          </p:cNvPr>
          <p:cNvSpPr/>
          <p:nvPr/>
        </p:nvSpPr>
        <p:spPr>
          <a:xfrm>
            <a:off x="23641679" y="5391424"/>
            <a:ext cx="978408" cy="2511838"/>
          </a:xfrm>
          <a:prstGeom prst="rightArrow">
            <a:avLst/>
          </a:prstGeom>
          <a:solidFill>
            <a:srgbClr val="507F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ight Arrow 129">
            <a:extLst>
              <a:ext uri="{FF2B5EF4-FFF2-40B4-BE49-F238E27FC236}">
                <a16:creationId xmlns:a16="http://schemas.microsoft.com/office/drawing/2014/main" id="{43B6FF9B-8E65-E1F0-E5C2-BD697B76ECE8}"/>
              </a:ext>
            </a:extLst>
          </p:cNvPr>
          <p:cNvSpPr/>
          <p:nvPr/>
        </p:nvSpPr>
        <p:spPr>
          <a:xfrm rot="9740656">
            <a:off x="23251219" y="11646232"/>
            <a:ext cx="978408" cy="2511838"/>
          </a:xfrm>
          <a:prstGeom prst="rightArrow">
            <a:avLst/>
          </a:prstGeom>
          <a:solidFill>
            <a:srgbClr val="97B6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ight Arrow 130">
            <a:extLst>
              <a:ext uri="{FF2B5EF4-FFF2-40B4-BE49-F238E27FC236}">
                <a16:creationId xmlns:a16="http://schemas.microsoft.com/office/drawing/2014/main" id="{21AE39A0-0E08-4F3E-E6EA-24178EB3BFA6}"/>
              </a:ext>
            </a:extLst>
          </p:cNvPr>
          <p:cNvSpPr/>
          <p:nvPr/>
        </p:nvSpPr>
        <p:spPr>
          <a:xfrm>
            <a:off x="23784927" y="17555965"/>
            <a:ext cx="978408" cy="2511838"/>
          </a:xfrm>
          <a:prstGeom prst="rightArrow">
            <a:avLst/>
          </a:prstGeom>
          <a:solidFill>
            <a:srgbClr val="EDC0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38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167644-7760-A4D6-2987-8151F592A76D}"/>
              </a:ext>
            </a:extLst>
          </p:cNvPr>
          <p:cNvSpPr/>
          <p:nvPr/>
        </p:nvSpPr>
        <p:spPr>
          <a:xfrm>
            <a:off x="14640748" y="10062299"/>
            <a:ext cx="2119745" cy="343939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46" dirty="0"/>
              <a:t>Radius = 4 </a:t>
            </a:r>
            <a:r>
              <a:rPr lang="en-US" sz="2046" dirty="0" err="1"/>
              <a:t>Rearth</a:t>
            </a:r>
            <a:r>
              <a:rPr lang="en-US" sz="2046" dirty="0"/>
              <a:t> = 0.35Rjup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Mass = 17Mearth = 0.05Mjup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Metallicity = 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8613B8-0A45-D984-E0A3-535A8FDE7667}"/>
              </a:ext>
            </a:extLst>
          </p:cNvPr>
          <p:cNvSpPr/>
          <p:nvPr/>
        </p:nvSpPr>
        <p:spPr>
          <a:xfrm>
            <a:off x="17117248" y="10062300"/>
            <a:ext cx="2119745" cy="343939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/>
              <a:t>Radius = 6 </a:t>
            </a:r>
            <a:r>
              <a:rPr lang="en-US" sz="2046" dirty="0" err="1"/>
              <a:t>Rearth</a:t>
            </a:r>
            <a:r>
              <a:rPr lang="en-US" sz="2046" dirty="0"/>
              <a:t> = 0.54Rjup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Mass = 30Mearth = 0.09Mjup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Metallicity = 50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3C680A-06C2-67DC-4F38-A167FE38AAC2}"/>
              </a:ext>
            </a:extLst>
          </p:cNvPr>
          <p:cNvSpPr/>
          <p:nvPr/>
        </p:nvSpPr>
        <p:spPr>
          <a:xfrm>
            <a:off x="19593748" y="10062298"/>
            <a:ext cx="2119745" cy="343938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/>
              <a:t>Radius = 9 </a:t>
            </a:r>
            <a:r>
              <a:rPr lang="en-US" sz="2046" dirty="0" err="1"/>
              <a:t>Rearth</a:t>
            </a:r>
            <a:r>
              <a:rPr lang="en-US" sz="2046" dirty="0"/>
              <a:t> = 0.8Rjup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Mass = 95Mearth = 0.3Mjup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Metallicity = 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E31137-8971-6C46-BBD2-AD3B3415F573}"/>
              </a:ext>
            </a:extLst>
          </p:cNvPr>
          <p:cNvSpPr/>
          <p:nvPr/>
        </p:nvSpPr>
        <p:spPr>
          <a:xfrm>
            <a:off x="21997511" y="10062300"/>
            <a:ext cx="2119745" cy="34393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/>
              <a:t>Radius = 11Rearth = 1Rjup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Mass = 317Mearth = 1Mjup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Metallicity = 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D4ACD1-6293-F751-BE98-F58E03B9FADB}"/>
              </a:ext>
            </a:extLst>
          </p:cNvPr>
          <p:cNvSpPr/>
          <p:nvPr/>
        </p:nvSpPr>
        <p:spPr>
          <a:xfrm>
            <a:off x="24401275" y="10062297"/>
            <a:ext cx="2119745" cy="3439386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46" dirty="0"/>
              <a:t>Radius = 10 </a:t>
            </a:r>
            <a:r>
              <a:rPr lang="en-US" sz="2046" dirty="0" err="1"/>
              <a:t>Rearth</a:t>
            </a:r>
            <a:r>
              <a:rPr lang="en-US" sz="2046" dirty="0"/>
              <a:t> = 0.9Rjup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Mass = 1560Mearth = 5Mjup</a:t>
            </a:r>
          </a:p>
          <a:p>
            <a:pPr algn="ctr"/>
            <a:endParaRPr lang="en-US" sz="2046" dirty="0"/>
          </a:p>
          <a:p>
            <a:pPr algn="ctr"/>
            <a:r>
              <a:rPr lang="en-US" sz="2046" dirty="0"/>
              <a:t>Metallicity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A87A1-DE7A-A75B-CA3F-3AD2869BF254}"/>
              </a:ext>
            </a:extLst>
          </p:cNvPr>
          <p:cNvSpPr txBox="1"/>
          <p:nvPr/>
        </p:nvSpPr>
        <p:spPr>
          <a:xfrm>
            <a:off x="15129041" y="9642604"/>
            <a:ext cx="1168910" cy="40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6" dirty="0"/>
              <a:t>Neptune</a:t>
            </a:r>
          </a:p>
        </p:txBody>
      </p:sp>
      <p:pic>
        <p:nvPicPr>
          <p:cNvPr id="10" name="Picture 9" descr="A picture containing text, line, diagram, screenshot&#10;&#10;Description automatically generated">
            <a:extLst>
              <a:ext uri="{FF2B5EF4-FFF2-40B4-BE49-F238E27FC236}">
                <a16:creationId xmlns:a16="http://schemas.microsoft.com/office/drawing/2014/main" id="{FD1A9E53-9617-C4C3-93DF-C285958A5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187" y="14263820"/>
            <a:ext cx="5527386" cy="31317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E63989-F880-7D7C-08EB-8681BF3C5226}"/>
              </a:ext>
            </a:extLst>
          </p:cNvPr>
          <p:cNvSpPr txBox="1"/>
          <p:nvPr/>
        </p:nvSpPr>
        <p:spPr>
          <a:xfrm>
            <a:off x="17323623" y="9055108"/>
            <a:ext cx="1706995" cy="103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46" dirty="0"/>
              <a:t>Neptune-Saturn Intermediate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17834AE0-3CF7-C9F7-A231-ADAE8A91A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091" y="5905381"/>
            <a:ext cx="4332567" cy="307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12F0D8F-7D23-E426-3985-BE1879135EE8}"/>
              </a:ext>
            </a:extLst>
          </p:cNvPr>
          <p:cNvSpPr/>
          <p:nvPr/>
        </p:nvSpPr>
        <p:spPr>
          <a:xfrm>
            <a:off x="15064091" y="6580699"/>
            <a:ext cx="3048082" cy="22730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2508FD-D0B6-5F21-1C24-BEDE4E1A1170}"/>
              </a:ext>
            </a:extLst>
          </p:cNvPr>
          <p:cNvCxnSpPr>
            <a:cxnSpLocks/>
          </p:cNvCxnSpPr>
          <p:nvPr/>
        </p:nvCxnSpPr>
        <p:spPr>
          <a:xfrm>
            <a:off x="16588139" y="6808000"/>
            <a:ext cx="1160953" cy="2247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9A6DA309-D0C3-479E-A43B-282EC6A55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3385" y="5557383"/>
            <a:ext cx="5203852" cy="4098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094783-DBE8-BB06-6BB9-611643B183F2}"/>
              </a:ext>
            </a:extLst>
          </p:cNvPr>
          <p:cNvCxnSpPr>
            <a:cxnSpLocks/>
          </p:cNvCxnSpPr>
          <p:nvPr/>
        </p:nvCxnSpPr>
        <p:spPr>
          <a:xfrm flipV="1">
            <a:off x="15800956" y="13291362"/>
            <a:ext cx="1804584" cy="1804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B0AD7A-1E5C-728D-59C8-8DE5A0885FD1}"/>
              </a:ext>
            </a:extLst>
          </p:cNvPr>
          <p:cNvCxnSpPr>
            <a:cxnSpLocks/>
          </p:cNvCxnSpPr>
          <p:nvPr/>
        </p:nvCxnSpPr>
        <p:spPr>
          <a:xfrm>
            <a:off x="19121555" y="6970003"/>
            <a:ext cx="28364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6B5BFD-D4D1-9800-EF47-5E6BA684D5E7}"/>
              </a:ext>
            </a:extLst>
          </p:cNvPr>
          <p:cNvCxnSpPr>
            <a:cxnSpLocks/>
          </p:cNvCxnSpPr>
          <p:nvPr/>
        </p:nvCxnSpPr>
        <p:spPr>
          <a:xfrm flipV="1">
            <a:off x="21957978" y="6970011"/>
            <a:ext cx="0" cy="23054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F3B123-8E85-98F3-FC29-FD9CFB3B9A16}"/>
              </a:ext>
            </a:extLst>
          </p:cNvPr>
          <p:cNvCxnSpPr>
            <a:cxnSpLocks/>
          </p:cNvCxnSpPr>
          <p:nvPr/>
        </p:nvCxnSpPr>
        <p:spPr>
          <a:xfrm flipV="1">
            <a:off x="16955641" y="15108069"/>
            <a:ext cx="0" cy="15099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C7D765-C9B7-448F-C784-7471A184F3C5}"/>
              </a:ext>
            </a:extLst>
          </p:cNvPr>
          <p:cNvCxnSpPr>
            <a:cxnSpLocks/>
          </p:cNvCxnSpPr>
          <p:nvPr/>
        </p:nvCxnSpPr>
        <p:spPr>
          <a:xfrm>
            <a:off x="15499845" y="15108063"/>
            <a:ext cx="14558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8FA011-9707-FCA7-56A5-6B204411BBF5}"/>
              </a:ext>
            </a:extLst>
          </p:cNvPr>
          <p:cNvCxnSpPr>
            <a:cxnSpLocks/>
          </p:cNvCxnSpPr>
          <p:nvPr/>
        </p:nvCxnSpPr>
        <p:spPr>
          <a:xfrm flipH="1">
            <a:off x="18620026" y="8981802"/>
            <a:ext cx="3337952" cy="28630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708837-E9B6-E321-7EAA-A2C336D65FC7}"/>
              </a:ext>
            </a:extLst>
          </p:cNvPr>
          <p:cNvSpPr txBox="1"/>
          <p:nvPr/>
        </p:nvSpPr>
        <p:spPr>
          <a:xfrm>
            <a:off x="20183475" y="9705839"/>
            <a:ext cx="934166" cy="40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6" dirty="0"/>
              <a:t>Saturn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11AB2F-9039-0C68-A5AE-756D27D2D979}"/>
              </a:ext>
            </a:extLst>
          </p:cNvPr>
          <p:cNvSpPr txBox="1"/>
          <p:nvPr/>
        </p:nvSpPr>
        <p:spPr>
          <a:xfrm>
            <a:off x="22603010" y="9684654"/>
            <a:ext cx="936795" cy="40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6" dirty="0"/>
              <a:t>Jupiter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5E83CB-08CD-1E5A-35FB-B05C2A273018}"/>
              </a:ext>
            </a:extLst>
          </p:cNvPr>
          <p:cNvSpPr txBox="1"/>
          <p:nvPr/>
        </p:nvSpPr>
        <p:spPr>
          <a:xfrm>
            <a:off x="24646965" y="9661262"/>
            <a:ext cx="1658146" cy="40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6" dirty="0"/>
              <a:t>Super Jupiter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836AC7-E2BE-D699-54E8-8DFB50847226}"/>
              </a:ext>
            </a:extLst>
          </p:cNvPr>
          <p:cNvSpPr/>
          <p:nvPr/>
        </p:nvSpPr>
        <p:spPr>
          <a:xfrm>
            <a:off x="15236450" y="6131330"/>
            <a:ext cx="3048082" cy="376060"/>
          </a:xfrm>
          <a:prstGeom prst="ellipse">
            <a:avLst/>
          </a:prstGeom>
          <a:noFill/>
          <a:ln w="19050">
            <a:solidFill>
              <a:srgbClr val="4AD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F9723D3-D9C0-4378-BCF1-D0E4CA1D2863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18284537" y="6319361"/>
            <a:ext cx="6778040" cy="3451838"/>
          </a:xfrm>
          <a:prstGeom prst="straightConnector1">
            <a:avLst/>
          </a:prstGeom>
          <a:ln w="19050">
            <a:solidFill>
              <a:srgbClr val="4A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171C24-2CE8-E0DD-C02E-2BBDB48B6238}"/>
              </a:ext>
            </a:extLst>
          </p:cNvPr>
          <p:cNvCxnSpPr>
            <a:cxnSpLocks/>
          </p:cNvCxnSpPr>
          <p:nvPr/>
        </p:nvCxnSpPr>
        <p:spPr>
          <a:xfrm>
            <a:off x="19030618" y="6341526"/>
            <a:ext cx="4844411" cy="0"/>
          </a:xfrm>
          <a:prstGeom prst="line">
            <a:avLst/>
          </a:prstGeom>
          <a:ln w="19050">
            <a:solidFill>
              <a:srgbClr val="4AD3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03B168-F6CA-094B-CD7D-104028E602FA}"/>
              </a:ext>
            </a:extLst>
          </p:cNvPr>
          <p:cNvCxnSpPr>
            <a:cxnSpLocks/>
          </p:cNvCxnSpPr>
          <p:nvPr/>
        </p:nvCxnSpPr>
        <p:spPr>
          <a:xfrm flipV="1">
            <a:off x="23875027" y="6332496"/>
            <a:ext cx="0" cy="3025640"/>
          </a:xfrm>
          <a:prstGeom prst="line">
            <a:avLst/>
          </a:prstGeom>
          <a:ln w="19050">
            <a:solidFill>
              <a:srgbClr val="4AD3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7D639C2-7BE3-6343-EEA0-6610C46ED199}"/>
              </a:ext>
            </a:extLst>
          </p:cNvPr>
          <p:cNvCxnSpPr>
            <a:cxnSpLocks/>
          </p:cNvCxnSpPr>
          <p:nvPr/>
        </p:nvCxnSpPr>
        <p:spPr>
          <a:xfrm flipV="1">
            <a:off x="19378681" y="15835922"/>
            <a:ext cx="0" cy="754966"/>
          </a:xfrm>
          <a:prstGeom prst="line">
            <a:avLst/>
          </a:prstGeom>
          <a:ln w="19050">
            <a:solidFill>
              <a:srgbClr val="4AD3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B3EE90-BC99-F24F-A2BE-534CDB1559FA}"/>
              </a:ext>
            </a:extLst>
          </p:cNvPr>
          <p:cNvCxnSpPr>
            <a:cxnSpLocks/>
          </p:cNvCxnSpPr>
          <p:nvPr/>
        </p:nvCxnSpPr>
        <p:spPr>
          <a:xfrm>
            <a:off x="15499840" y="15844957"/>
            <a:ext cx="3878843" cy="0"/>
          </a:xfrm>
          <a:prstGeom prst="line">
            <a:avLst/>
          </a:prstGeom>
          <a:ln w="19050">
            <a:solidFill>
              <a:srgbClr val="4AD3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F4FA16A-0752-BFA0-048C-299AEAD2081C}"/>
              </a:ext>
            </a:extLst>
          </p:cNvPr>
          <p:cNvCxnSpPr>
            <a:cxnSpLocks/>
          </p:cNvCxnSpPr>
          <p:nvPr/>
        </p:nvCxnSpPr>
        <p:spPr>
          <a:xfrm flipV="1">
            <a:off x="19272150" y="13173702"/>
            <a:ext cx="5459531" cy="2655974"/>
          </a:xfrm>
          <a:prstGeom prst="straightConnector1">
            <a:avLst/>
          </a:prstGeom>
          <a:ln w="19050">
            <a:solidFill>
              <a:srgbClr val="4A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7974C0B-91DC-B9CA-06D7-B314C184E7AD}"/>
              </a:ext>
            </a:extLst>
          </p:cNvPr>
          <p:cNvSpPr/>
          <p:nvPr/>
        </p:nvSpPr>
        <p:spPr>
          <a:xfrm>
            <a:off x="13919666" y="5557378"/>
            <a:ext cx="13339027" cy="12079893"/>
          </a:xfrm>
          <a:prstGeom prst="rect">
            <a:avLst/>
          </a:prstGeom>
          <a:noFill/>
          <a:ln w="381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6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81D78B-D961-2B0C-96CD-22BB43BA25FB}"/>
              </a:ext>
            </a:extLst>
          </p:cNvPr>
          <p:cNvCxnSpPr>
            <a:cxnSpLocks/>
          </p:cNvCxnSpPr>
          <p:nvPr/>
        </p:nvCxnSpPr>
        <p:spPr>
          <a:xfrm>
            <a:off x="23885506" y="6363700"/>
            <a:ext cx="975878" cy="4169475"/>
          </a:xfrm>
          <a:prstGeom prst="straightConnector1">
            <a:avLst/>
          </a:prstGeom>
          <a:ln w="19050">
            <a:solidFill>
              <a:srgbClr val="4A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6E738A6-0842-9E7C-6B23-3E2BD4635C56}"/>
              </a:ext>
            </a:extLst>
          </p:cNvPr>
          <p:cNvSpPr txBox="1"/>
          <p:nvPr/>
        </p:nvSpPr>
        <p:spPr>
          <a:xfrm>
            <a:off x="15946946" y="4669689"/>
            <a:ext cx="9148466" cy="721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91" dirty="0"/>
              <a:t>Planet Parameter Selection Justification</a:t>
            </a:r>
          </a:p>
        </p:txBody>
      </p:sp>
    </p:spTree>
    <p:extLst>
      <p:ext uri="{BB962C8B-B14F-4D97-AF65-F5344CB8AC3E}">
        <p14:creationId xmlns:p14="http://schemas.microsoft.com/office/powerpoint/2010/main" val="110158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5811</TotalTime>
  <Words>516</Words>
  <Application>Microsoft Macintosh PowerPoint</Application>
  <PresentationFormat>Custom</PresentationFormat>
  <Paragraphs>194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Montserrat SemiBold</vt:lpstr>
      <vt:lpstr>Arial</vt:lpstr>
      <vt:lpstr>Cubano</vt:lpstr>
      <vt:lpstr>Aptos Display</vt:lpstr>
      <vt:lpstr>Aptos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Pearce, Logan</dc:creator>
  <cp:lastModifiedBy>Pearce, Logan</cp:lastModifiedBy>
  <cp:revision>8</cp:revision>
  <dcterms:created xsi:type="dcterms:W3CDTF">2026-01-09T19:17:57Z</dcterms:created>
  <dcterms:modified xsi:type="dcterms:W3CDTF">2026-09-02T17:48:09Z</dcterms:modified>
</cp:coreProperties>
</file>