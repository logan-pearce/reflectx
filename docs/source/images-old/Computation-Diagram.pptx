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</p:sldIdLst>
  <p:sldSz cx="3657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7F9F"/>
    <a:srgbClr val="D5734A"/>
    <a:srgbClr val="ECBF8F"/>
    <a:srgbClr val="97B6B1"/>
    <a:srgbClr val="F2CFEE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/>
    <p:restoredTop sz="94804"/>
  </p:normalViewPr>
  <p:slideViewPr>
    <p:cSldViewPr snapToGrid="0">
      <p:cViewPr varScale="1">
        <p:scale>
          <a:sx n="45" d="100"/>
          <a:sy n="45" d="100"/>
        </p:scale>
        <p:origin x="256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244726"/>
            <a:ext cx="27432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7204076"/>
            <a:ext cx="27432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7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3419477"/>
            <a:ext cx="315468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9178927"/>
            <a:ext cx="315468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1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1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730251"/>
            <a:ext cx="315468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3362326"/>
            <a:ext cx="1547336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5010150"/>
            <a:ext cx="1547336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3362326"/>
            <a:ext cx="1554956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5010150"/>
            <a:ext cx="1554956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6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5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1974851"/>
            <a:ext cx="185166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5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1974851"/>
            <a:ext cx="185166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0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730250"/>
            <a:ext cx="78867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730250"/>
            <a:ext cx="232029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4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730251"/>
            <a:ext cx="315468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3651250"/>
            <a:ext cx="315468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0150A-1259-1E48-BDE6-16DFA27BFE79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2712701"/>
            <a:ext cx="12344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3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414A3C74-3101-C94A-8E95-716124100D0F}"/>
              </a:ext>
            </a:extLst>
          </p:cNvPr>
          <p:cNvSpPr/>
          <p:nvPr/>
        </p:nvSpPr>
        <p:spPr>
          <a:xfrm>
            <a:off x="19503601" y="600741"/>
            <a:ext cx="17988847" cy="5449575"/>
          </a:xfrm>
          <a:prstGeom prst="rect">
            <a:avLst/>
          </a:prstGeom>
          <a:solidFill>
            <a:srgbClr val="97B6B1">
              <a:alpha val="49804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768AD562-9EA1-4F25-A664-79FCD28B6D45}"/>
              </a:ext>
            </a:extLst>
          </p:cNvPr>
          <p:cNvSpPr/>
          <p:nvPr/>
        </p:nvSpPr>
        <p:spPr>
          <a:xfrm>
            <a:off x="8978141" y="7438879"/>
            <a:ext cx="7758753" cy="5203939"/>
          </a:xfrm>
          <a:prstGeom prst="roundRect">
            <a:avLst/>
          </a:prstGeom>
          <a:solidFill>
            <a:srgbClr val="507F9F">
              <a:alpha val="50196"/>
            </a:srgb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FDAF9FB-9333-9763-06EC-12A16E426BF2}"/>
              </a:ext>
            </a:extLst>
          </p:cNvPr>
          <p:cNvSpPr/>
          <p:nvPr/>
        </p:nvSpPr>
        <p:spPr>
          <a:xfrm>
            <a:off x="9684605" y="8864986"/>
            <a:ext cx="3172910" cy="133948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Star Spectrum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A5C9657-EB97-0691-EBC4-C49AD39ABDDB}"/>
              </a:ext>
            </a:extLst>
          </p:cNvPr>
          <p:cNvSpPr/>
          <p:nvPr/>
        </p:nvSpPr>
        <p:spPr>
          <a:xfrm>
            <a:off x="13121622" y="8749263"/>
            <a:ext cx="3280939" cy="16349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Geometric Albedo Spectra</a:t>
            </a: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C831653B-784B-1F41-2512-71CDD4FF3D8F}"/>
              </a:ext>
            </a:extLst>
          </p:cNvPr>
          <p:cNvCxnSpPr>
            <a:cxnSpLocks/>
            <a:stCxn id="3" idx="4"/>
            <a:endCxn id="113" idx="0"/>
          </p:cNvCxnSpPr>
          <p:nvPr/>
        </p:nvCxnSpPr>
        <p:spPr>
          <a:xfrm>
            <a:off x="11098372" y="3642431"/>
            <a:ext cx="172688" cy="5222554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7C3B697-E564-BBC4-45C1-2A9553D318C1}"/>
              </a:ext>
            </a:extLst>
          </p:cNvPr>
          <p:cNvSpPr/>
          <p:nvPr/>
        </p:nvSpPr>
        <p:spPr>
          <a:xfrm>
            <a:off x="9637046" y="10633449"/>
            <a:ext cx="3280939" cy="16349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Fp</a:t>
            </a:r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/Fs Contrast Spectra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806EC86-0DE6-2BD3-465F-1A5EE30AB3AE}"/>
              </a:ext>
            </a:extLst>
          </p:cNvPr>
          <p:cNvSpPr/>
          <p:nvPr/>
        </p:nvSpPr>
        <p:spPr>
          <a:xfrm>
            <a:off x="13040852" y="10640379"/>
            <a:ext cx="3280939" cy="16349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Planet Spectra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C20E7BB-1C03-DA8C-E232-E983BB469C01}"/>
              </a:ext>
            </a:extLst>
          </p:cNvPr>
          <p:cNvSpPr/>
          <p:nvPr/>
        </p:nvSpPr>
        <p:spPr>
          <a:xfrm>
            <a:off x="18227919" y="7271445"/>
            <a:ext cx="14038695" cy="5449575"/>
          </a:xfrm>
          <a:prstGeom prst="rect">
            <a:avLst/>
          </a:prstGeom>
          <a:solidFill>
            <a:srgbClr val="D5734A">
              <a:alpha val="23922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D62F7B-9CD1-6C91-4D48-F854B9D14A3A}"/>
              </a:ext>
            </a:extLst>
          </p:cNvPr>
          <p:cNvCxnSpPr>
            <a:cxnSpLocks/>
            <a:stCxn id="3" idx="6"/>
            <a:endCxn id="53" idx="2"/>
          </p:cNvCxnSpPr>
          <p:nvPr/>
        </p:nvCxnSpPr>
        <p:spPr>
          <a:xfrm>
            <a:off x="13421814" y="2269823"/>
            <a:ext cx="6762326" cy="595186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F485284-2CA7-6C85-899B-E1545F956907}"/>
              </a:ext>
            </a:extLst>
          </p:cNvPr>
          <p:cNvGrpSpPr/>
          <p:nvPr/>
        </p:nvGrpSpPr>
        <p:grpSpPr>
          <a:xfrm>
            <a:off x="-1773252" y="481849"/>
            <a:ext cx="9407522" cy="12752303"/>
            <a:chOff x="3442447" y="161364"/>
            <a:chExt cx="4883972" cy="662043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4B7B2E6-0CC7-43E2-1330-254537E38835}"/>
                </a:ext>
              </a:extLst>
            </p:cNvPr>
            <p:cNvSpPr/>
            <p:nvPr/>
          </p:nvSpPr>
          <p:spPr>
            <a:xfrm>
              <a:off x="3442447" y="161364"/>
              <a:ext cx="4883972" cy="6620435"/>
            </a:xfrm>
            <a:prstGeom prst="roundRect">
              <a:avLst/>
            </a:prstGeom>
            <a:solidFill>
              <a:srgbClr val="507F9F">
                <a:alpha val="5098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495CE7E-CFFB-BB1A-EBF1-9248837A8A26}"/>
                </a:ext>
              </a:extLst>
            </p:cNvPr>
            <p:cNvSpPr/>
            <p:nvPr/>
          </p:nvSpPr>
          <p:spPr>
            <a:xfrm>
              <a:off x="3905026" y="821619"/>
              <a:ext cx="1982994" cy="2015585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Planet: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Mass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Radius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[M/H]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C/O</a:t>
              </a:r>
            </a:p>
            <a:p>
              <a:pPr algn="ctr"/>
              <a:r>
                <a:rPr lang="en-US" sz="36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T</a:t>
              </a:r>
              <a:r>
                <a:rPr lang="en-US" sz="3600" baseline="-250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eq</a:t>
              </a:r>
              <a:endParaRPr lang="en-US" sz="3600" baseline="-25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endParaRP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Phase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101A4BE-DE82-C48B-4A0F-B6029ACE4810}"/>
                </a:ext>
              </a:extLst>
            </p:cNvPr>
            <p:cNvSpPr/>
            <p:nvPr/>
          </p:nvSpPr>
          <p:spPr>
            <a:xfrm>
              <a:off x="6096000" y="821619"/>
              <a:ext cx="1982993" cy="201558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Star: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T</a:t>
              </a:r>
              <a:r>
                <a:rPr lang="en-US" sz="3600" baseline="-25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eff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Mass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Radius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[M/H]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Log(g)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8C17BD-2B56-5FE8-3565-475B424E0D88}"/>
                </a:ext>
              </a:extLst>
            </p:cNvPr>
            <p:cNvSpPr/>
            <p:nvPr/>
          </p:nvSpPr>
          <p:spPr>
            <a:xfrm>
              <a:off x="4587189" y="267223"/>
              <a:ext cx="2773784" cy="42530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inputs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664C888-06AA-FC89-07C9-EA6B89D91E1B}"/>
                </a:ext>
              </a:extLst>
            </p:cNvPr>
            <p:cNvSpPr/>
            <p:nvPr/>
          </p:nvSpPr>
          <p:spPr>
            <a:xfrm>
              <a:off x="3784002" y="2966296"/>
              <a:ext cx="4294991" cy="259630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Climate calculation settings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K-coefficient opacities (Marley et al. 2021)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Atm pressure: (10</a:t>
              </a:r>
              <a:r>
                <a:rPr lang="en-US" sz="3600" baseline="30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2.5</a:t>
              </a:r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 – 10</a:t>
              </a:r>
              <a:r>
                <a:rPr lang="en-US" sz="3600" baseline="30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-6</a:t>
              </a:r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 Bars)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N Atm Levels: 91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N initial Conv Zones: 1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Initial Interior Temp: 100 K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Stellar contribution factor: 0.5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1DB4515-B6B2-B595-EC40-DEDB97A97E1D}"/>
              </a:ext>
            </a:extLst>
          </p:cNvPr>
          <p:cNvSpPr/>
          <p:nvPr/>
        </p:nvSpPr>
        <p:spPr>
          <a:xfrm>
            <a:off x="8774930" y="897215"/>
            <a:ext cx="4646885" cy="27452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Grab Phoenix Spectrum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96B371-E8EF-504B-E5B7-90435B1A730D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7157677" y="2269823"/>
            <a:ext cx="1617252" cy="1425022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9528EAB-D62C-8CC8-8DCB-487CCB44037A}"/>
              </a:ext>
            </a:extLst>
          </p:cNvPr>
          <p:cNvSpPr/>
          <p:nvPr/>
        </p:nvSpPr>
        <p:spPr>
          <a:xfrm>
            <a:off x="13517636" y="1523412"/>
            <a:ext cx="5603502" cy="451485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Compute initial P(T) guess</a:t>
            </a:r>
          </a:p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(Guillot et al. 2010 </a:t>
            </a:r>
            <a:r>
              <a:rPr lang="en-US" sz="36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eqn</a:t>
            </a:r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 29)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BFB7D4-1814-ABA3-74D9-61F0D06D4D95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 flipV="1">
            <a:off x="7634270" y="3780838"/>
            <a:ext cx="5883366" cy="3077163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BE4A39-27A5-AAF3-AAF1-1E93B5B53B40}"/>
              </a:ext>
            </a:extLst>
          </p:cNvPr>
          <p:cNvCxnSpPr>
            <a:cxnSpLocks/>
            <a:stCxn id="13" idx="6"/>
            <a:endCxn id="53" idx="2"/>
          </p:cNvCxnSpPr>
          <p:nvPr/>
        </p:nvCxnSpPr>
        <p:spPr>
          <a:xfrm flipV="1">
            <a:off x="19121138" y="2865009"/>
            <a:ext cx="1063002" cy="915828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55E0A7-FFBF-69D4-B2C0-740539BC0E82}"/>
              </a:ext>
            </a:extLst>
          </p:cNvPr>
          <p:cNvCxnSpPr>
            <a:cxnSpLocks/>
          </p:cNvCxnSpPr>
          <p:nvPr/>
        </p:nvCxnSpPr>
        <p:spPr>
          <a:xfrm>
            <a:off x="26421000" y="2922930"/>
            <a:ext cx="1378024" cy="508002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nip Same Side Corner Rectangle 52">
            <a:extLst>
              <a:ext uri="{FF2B5EF4-FFF2-40B4-BE49-F238E27FC236}">
                <a16:creationId xmlns:a16="http://schemas.microsoft.com/office/drawing/2014/main" id="{509D9AE6-7902-CE47-DA13-0A9A49FD0998}"/>
              </a:ext>
            </a:extLst>
          </p:cNvPr>
          <p:cNvSpPr/>
          <p:nvPr/>
        </p:nvSpPr>
        <p:spPr>
          <a:xfrm>
            <a:off x="20184140" y="1047634"/>
            <a:ext cx="6236860" cy="3634751"/>
          </a:xfrm>
          <a:prstGeom prst="snip2Same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PICASO iteratively converges to a solution of the radiative transfer equation for radiative/convective equilibrium</a:t>
            </a:r>
          </a:p>
          <a:p>
            <a:pPr algn="ctr"/>
            <a:endParaRPr lang="en-US" sz="405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1BA31F0-527D-E4C6-6356-1C8474381D06}"/>
              </a:ext>
            </a:extLst>
          </p:cNvPr>
          <p:cNvGrpSpPr/>
          <p:nvPr/>
        </p:nvGrpSpPr>
        <p:grpSpPr>
          <a:xfrm>
            <a:off x="27799025" y="1097195"/>
            <a:ext cx="9407523" cy="4542684"/>
            <a:chOff x="2356509" y="4459632"/>
            <a:chExt cx="4181121" cy="252385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8BD132-D845-3C2F-8309-A4656BC7DE39}"/>
                </a:ext>
              </a:extLst>
            </p:cNvPr>
            <p:cNvSpPr/>
            <p:nvPr/>
          </p:nvSpPr>
          <p:spPr>
            <a:xfrm>
              <a:off x="2546403" y="5139163"/>
              <a:ext cx="1757214" cy="74982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P(T) profile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C863DB7-96F8-B7CF-C377-26F4CC7530DA}"/>
                </a:ext>
              </a:extLst>
            </p:cNvPr>
            <p:cNvSpPr/>
            <p:nvPr/>
          </p:nvSpPr>
          <p:spPr>
            <a:xfrm>
              <a:off x="3011185" y="4562638"/>
              <a:ext cx="3141755" cy="41949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outputs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endParaRP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C3731CD4-DF23-2881-C243-A1BEF8824DEA}"/>
                </a:ext>
              </a:extLst>
            </p:cNvPr>
            <p:cNvSpPr/>
            <p:nvPr/>
          </p:nvSpPr>
          <p:spPr>
            <a:xfrm>
              <a:off x="2356509" y="4459632"/>
              <a:ext cx="4181121" cy="2523852"/>
            </a:xfrm>
            <a:prstGeom prst="round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EB36439-1186-3F50-9ED4-B510FD12714F}"/>
                </a:ext>
              </a:extLst>
            </p:cNvPr>
            <p:cNvSpPr/>
            <p:nvPr/>
          </p:nvSpPr>
          <p:spPr>
            <a:xfrm>
              <a:off x="4388994" y="5083619"/>
              <a:ext cx="2065282" cy="8728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Chemical structure (mol abundances)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B72F8DC-F85A-7AD2-8BF9-A53B37D45A80}"/>
                </a:ext>
              </a:extLst>
            </p:cNvPr>
            <p:cNvSpPr/>
            <p:nvPr/>
          </p:nvSpPr>
          <p:spPr>
            <a:xfrm>
              <a:off x="3211981" y="6087714"/>
              <a:ext cx="2535385" cy="74982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Energy transport in atm</a:t>
              </a:r>
            </a:p>
          </p:txBody>
        </p:sp>
      </p:grpSp>
      <p:sp>
        <p:nvSpPr>
          <p:cNvPr id="76" name="Snip Same Side Corner Rectangle 75">
            <a:extLst>
              <a:ext uri="{FF2B5EF4-FFF2-40B4-BE49-F238E27FC236}">
                <a16:creationId xmlns:a16="http://schemas.microsoft.com/office/drawing/2014/main" id="{7DC025A7-B250-AFDC-5690-AEBCD35F9D3A}"/>
              </a:ext>
            </a:extLst>
          </p:cNvPr>
          <p:cNvSpPr/>
          <p:nvPr/>
        </p:nvSpPr>
        <p:spPr>
          <a:xfrm>
            <a:off x="25957187" y="8013420"/>
            <a:ext cx="5848923" cy="4074647"/>
          </a:xfrm>
          <a:prstGeom prst="snip2Same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PICASO computes cloud-free reflected light albedo and contrast spectra</a:t>
            </a:r>
          </a:p>
          <a:p>
            <a:pPr algn="ctr"/>
            <a:endParaRPr lang="en-US" sz="3600" dirty="0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ABE19F60-AA7D-FD2A-CAFA-61AF61A40A41}"/>
              </a:ext>
            </a:extLst>
          </p:cNvPr>
          <p:cNvSpPr/>
          <p:nvPr/>
        </p:nvSpPr>
        <p:spPr>
          <a:xfrm>
            <a:off x="-1229463" y="11066069"/>
            <a:ext cx="8354760" cy="15796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Cloud parameters: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Sedimentation Efficiency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f_sed</a:t>
            </a:r>
            <a:endParaRPr 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Vertical mixing strength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Kzz</a:t>
            </a:r>
            <a:endParaRPr 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FAC9682-19CA-703C-74A7-7AC06800DE92}"/>
              </a:ext>
            </a:extLst>
          </p:cNvPr>
          <p:cNvSpPr/>
          <p:nvPr/>
        </p:nvSpPr>
        <p:spPr>
          <a:xfrm>
            <a:off x="32783106" y="6597479"/>
            <a:ext cx="4181432" cy="37070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Cloud Calculation w/ VIRGA</a:t>
            </a:r>
          </a:p>
        </p:txBody>
      </p:sp>
      <p:sp>
        <p:nvSpPr>
          <p:cNvPr id="104" name="Snip Same Side Corner Rectangle 103">
            <a:extLst>
              <a:ext uri="{FF2B5EF4-FFF2-40B4-BE49-F238E27FC236}">
                <a16:creationId xmlns:a16="http://schemas.microsoft.com/office/drawing/2014/main" id="{FEC95872-7316-9B7D-38D4-604473451EB1}"/>
              </a:ext>
            </a:extLst>
          </p:cNvPr>
          <p:cNvSpPr/>
          <p:nvPr/>
        </p:nvSpPr>
        <p:spPr>
          <a:xfrm>
            <a:off x="18951216" y="8013419"/>
            <a:ext cx="5848923" cy="4074647"/>
          </a:xfrm>
          <a:prstGeom prst="snip2Same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PICASO computes cloudy reflected light albedo and contrast spectra</a:t>
            </a:r>
          </a:p>
          <a:p>
            <a:pPr algn="ctr"/>
            <a:endParaRPr lang="en-US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64F9232-1C2E-3081-BC46-4329E8CB1648}"/>
              </a:ext>
            </a:extLst>
          </p:cNvPr>
          <p:cNvSpPr/>
          <p:nvPr/>
        </p:nvSpPr>
        <p:spPr>
          <a:xfrm>
            <a:off x="24302343" y="129984"/>
            <a:ext cx="9158608" cy="72579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Climate calculation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04E0848E-FBA3-B6B7-E308-097B48DB9DCC}"/>
              </a:ext>
            </a:extLst>
          </p:cNvPr>
          <p:cNvCxnSpPr>
            <a:cxnSpLocks/>
            <a:stCxn id="82" idx="2"/>
            <a:endCxn id="87" idx="4"/>
          </p:cNvCxnSpPr>
          <p:nvPr/>
        </p:nvCxnSpPr>
        <p:spPr>
          <a:xfrm rot="5400000" flipH="1" flipV="1">
            <a:off x="17740294" y="-4487803"/>
            <a:ext cx="2341150" cy="31925905"/>
          </a:xfrm>
          <a:prstGeom prst="bentConnector3">
            <a:avLst>
              <a:gd name="adj1" fmla="val -17153"/>
            </a:avLst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Elbow Connector 199">
            <a:extLst>
              <a:ext uri="{FF2B5EF4-FFF2-40B4-BE49-F238E27FC236}">
                <a16:creationId xmlns:a16="http://schemas.microsoft.com/office/drawing/2014/main" id="{5857B0F2-A4EF-2904-9898-23C36C544F1F}"/>
              </a:ext>
            </a:extLst>
          </p:cNvPr>
          <p:cNvCxnSpPr>
            <a:cxnSpLocks/>
            <a:stCxn id="66" idx="3"/>
            <a:endCxn id="87" idx="6"/>
          </p:cNvCxnSpPr>
          <p:nvPr/>
        </p:nvCxnSpPr>
        <p:spPr>
          <a:xfrm flipH="1">
            <a:off x="36964539" y="3368537"/>
            <a:ext cx="242009" cy="5082490"/>
          </a:xfrm>
          <a:prstGeom prst="bentConnector3">
            <a:avLst>
              <a:gd name="adj1" fmla="val -319119"/>
            </a:avLst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Elbow Connector 208">
            <a:extLst>
              <a:ext uri="{FF2B5EF4-FFF2-40B4-BE49-F238E27FC236}">
                <a16:creationId xmlns:a16="http://schemas.microsoft.com/office/drawing/2014/main" id="{1511BCD8-CE29-5F7C-86A1-7227FAAB0FB7}"/>
              </a:ext>
            </a:extLst>
          </p:cNvPr>
          <p:cNvCxnSpPr>
            <a:cxnSpLocks/>
            <a:stCxn id="66" idx="2"/>
            <a:endCxn id="76" idx="0"/>
          </p:cNvCxnSpPr>
          <p:nvPr/>
        </p:nvCxnSpPr>
        <p:spPr>
          <a:xfrm rot="5400000">
            <a:off x="29949016" y="7496974"/>
            <a:ext cx="4410864" cy="696677"/>
          </a:xfrm>
          <a:prstGeom prst="bentConnector2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47D4F1-9BFF-2D16-2511-505BC5183128}"/>
              </a:ext>
            </a:extLst>
          </p:cNvPr>
          <p:cNvSpPr/>
          <p:nvPr/>
        </p:nvSpPr>
        <p:spPr>
          <a:xfrm>
            <a:off x="19866194" y="6436968"/>
            <a:ext cx="11024937" cy="14947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Post-process and </a:t>
            </a:r>
          </a:p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Spectrum computation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E89BDFA3-5591-EBEE-0B03-132E080DABBA}"/>
              </a:ext>
            </a:extLst>
          </p:cNvPr>
          <p:cNvCxnSpPr>
            <a:cxnSpLocks/>
            <a:stCxn id="104" idx="2"/>
            <a:endCxn id="115" idx="3"/>
          </p:cNvCxnSpPr>
          <p:nvPr/>
        </p:nvCxnSpPr>
        <p:spPr>
          <a:xfrm flipH="1" flipV="1">
            <a:off x="16736893" y="10040848"/>
            <a:ext cx="2214322" cy="9894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A15E88A5-E3CF-2D6E-D7CC-C093A3FA5F83}"/>
              </a:ext>
            </a:extLst>
          </p:cNvPr>
          <p:cNvCxnSpPr>
            <a:cxnSpLocks/>
            <a:stCxn id="76" idx="1"/>
            <a:endCxn id="115" idx="3"/>
          </p:cNvCxnSpPr>
          <p:nvPr/>
        </p:nvCxnSpPr>
        <p:spPr>
          <a:xfrm rot="5400000" flipH="1">
            <a:off x="21785662" y="4992081"/>
            <a:ext cx="2047218" cy="12144755"/>
          </a:xfrm>
          <a:prstGeom prst="bentConnector4">
            <a:avLst>
              <a:gd name="adj1" fmla="val -11166"/>
              <a:gd name="adj2" fmla="val 92157"/>
            </a:avLst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3A07BBD-16C9-25E9-A726-DC910321AB2C}"/>
              </a:ext>
            </a:extLst>
          </p:cNvPr>
          <p:cNvSpPr/>
          <p:nvPr/>
        </p:nvSpPr>
        <p:spPr>
          <a:xfrm>
            <a:off x="10032167" y="7691271"/>
            <a:ext cx="5896435" cy="75975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Final output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0CA269E4-E154-3CC8-9195-9EB4C8C8E548}"/>
              </a:ext>
            </a:extLst>
          </p:cNvPr>
          <p:cNvCxnSpPr>
            <a:cxnSpLocks/>
            <a:endCxn id="104" idx="1"/>
          </p:cNvCxnSpPr>
          <p:nvPr/>
        </p:nvCxnSpPr>
        <p:spPr>
          <a:xfrm rot="10800000" flipV="1">
            <a:off x="21875677" y="9741321"/>
            <a:ext cx="11585274" cy="2346744"/>
          </a:xfrm>
          <a:prstGeom prst="bentConnector4">
            <a:avLst>
              <a:gd name="adj1" fmla="val 48"/>
              <a:gd name="adj2" fmla="val 152918"/>
            </a:avLst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DC41AC29-64F2-0CB1-FAB0-5ED859D57B0E}"/>
              </a:ext>
            </a:extLst>
          </p:cNvPr>
          <p:cNvCxnSpPr>
            <a:stCxn id="76" idx="2"/>
          </p:cNvCxnSpPr>
          <p:nvPr/>
        </p:nvCxnSpPr>
        <p:spPr>
          <a:xfrm flipH="1" flipV="1">
            <a:off x="24800138" y="10050741"/>
            <a:ext cx="1157048" cy="2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86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E263E572-892C-F217-0C39-FBB59C65C34C}"/>
              </a:ext>
            </a:extLst>
          </p:cNvPr>
          <p:cNvCxnSpPr>
            <a:cxnSpLocks/>
            <a:stCxn id="30" idx="3"/>
            <a:endCxn id="78" idx="1"/>
          </p:cNvCxnSpPr>
          <p:nvPr/>
        </p:nvCxnSpPr>
        <p:spPr>
          <a:xfrm flipV="1">
            <a:off x="13429968" y="4765183"/>
            <a:ext cx="7499476" cy="5093606"/>
          </a:xfrm>
          <a:prstGeom prst="bentConnector3">
            <a:avLst>
              <a:gd name="adj1" fmla="val 952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3B47AB9D-D8C4-941C-D8B3-20D761E1B704}"/>
              </a:ext>
            </a:extLst>
          </p:cNvPr>
          <p:cNvCxnSpPr>
            <a:cxnSpLocks/>
            <a:stCxn id="7" idx="3"/>
            <a:endCxn id="53" idx="1"/>
          </p:cNvCxnSpPr>
          <p:nvPr/>
        </p:nvCxnSpPr>
        <p:spPr>
          <a:xfrm>
            <a:off x="5244668" y="5952208"/>
            <a:ext cx="9131383" cy="4618805"/>
          </a:xfrm>
          <a:prstGeom prst="bentConnector3">
            <a:avLst>
              <a:gd name="adj1" fmla="val 14534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048390-4136-0F0C-B64D-B4C802B8AC65}"/>
              </a:ext>
            </a:extLst>
          </p:cNvPr>
          <p:cNvSpPr/>
          <p:nvPr/>
        </p:nvSpPr>
        <p:spPr>
          <a:xfrm>
            <a:off x="2380191" y="3381775"/>
            <a:ext cx="2864479" cy="926757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Planet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968B2E-E772-98AE-734A-24D11D3979A7}"/>
              </a:ext>
            </a:extLst>
          </p:cNvPr>
          <p:cNvSpPr/>
          <p:nvPr/>
        </p:nvSpPr>
        <p:spPr>
          <a:xfrm>
            <a:off x="2380192" y="2328248"/>
            <a:ext cx="2864479" cy="926757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star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5A8FB7C-B88C-1FCA-A92A-2FB2EB70B40F}"/>
              </a:ext>
            </a:extLst>
          </p:cNvPr>
          <p:cNvSpPr/>
          <p:nvPr/>
        </p:nvSpPr>
        <p:spPr>
          <a:xfrm>
            <a:off x="2380189" y="5488829"/>
            <a:ext cx="2864479" cy="926757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cloud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74E9D-A6D7-DDDE-E379-3060C3F80FBD}"/>
              </a:ext>
            </a:extLst>
          </p:cNvPr>
          <p:cNvSpPr/>
          <p:nvPr/>
        </p:nvSpPr>
        <p:spPr>
          <a:xfrm>
            <a:off x="2380189" y="4435302"/>
            <a:ext cx="2864479" cy="926757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ubano" pitchFamily="2" charset="0"/>
              </a:rPr>
              <a:t>Calculation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ECACEE-E80B-F06A-A8DF-E2E56A20BC25}"/>
              </a:ext>
            </a:extLst>
          </p:cNvPr>
          <p:cNvSpPr/>
          <p:nvPr/>
        </p:nvSpPr>
        <p:spPr>
          <a:xfrm>
            <a:off x="1517961" y="1156058"/>
            <a:ext cx="4588934" cy="8192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inputs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8757AB8-7662-8C7C-0F22-353A1F000E7B}"/>
              </a:ext>
            </a:extLst>
          </p:cNvPr>
          <p:cNvSpPr/>
          <p:nvPr/>
        </p:nvSpPr>
        <p:spPr>
          <a:xfrm>
            <a:off x="1517962" y="2131682"/>
            <a:ext cx="4588933" cy="4607240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01005B-32B4-73B5-0154-59CBCEDCDB8C}"/>
              </a:ext>
            </a:extLst>
          </p:cNvPr>
          <p:cNvSpPr/>
          <p:nvPr/>
        </p:nvSpPr>
        <p:spPr>
          <a:xfrm>
            <a:off x="6969125" y="1232191"/>
            <a:ext cx="3549681" cy="176832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Star Spectrum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E4F3F1-D899-4BF0-B2B1-F1CCF7E89E83}"/>
              </a:ext>
            </a:extLst>
          </p:cNvPr>
          <p:cNvSpPr/>
          <p:nvPr/>
        </p:nvSpPr>
        <p:spPr>
          <a:xfrm>
            <a:off x="7473965" y="2708104"/>
            <a:ext cx="2539999" cy="6736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Phoenix</a:t>
            </a:r>
            <a:endParaRPr lang="en-US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38145BE-D92D-DF71-D53E-5D8A3CAE8461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6384695" y="4099716"/>
            <a:ext cx="5996867" cy="392847"/>
          </a:xfrm>
          <a:prstGeom prst="bentConnector3">
            <a:avLst>
              <a:gd name="adj1" fmla="val 72872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4335F02-01BD-E492-F9BB-6698667D68C4}"/>
              </a:ext>
            </a:extLst>
          </p:cNvPr>
          <p:cNvCxnSpPr>
            <a:cxnSpLocks/>
            <a:stCxn id="6" idx="3"/>
            <a:endCxn id="13" idx="2"/>
          </p:cNvCxnSpPr>
          <p:nvPr/>
        </p:nvCxnSpPr>
        <p:spPr>
          <a:xfrm flipV="1">
            <a:off x="5244670" y="2116352"/>
            <a:ext cx="1724454" cy="675274"/>
          </a:xfrm>
          <a:prstGeom prst="bentConnector3">
            <a:avLst>
              <a:gd name="adj1" fmla="val 74549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4FE4F2B-72F0-678C-6BA0-3029356A3F9B}"/>
              </a:ext>
            </a:extLst>
          </p:cNvPr>
          <p:cNvSpPr/>
          <p:nvPr/>
        </p:nvSpPr>
        <p:spPr>
          <a:xfrm>
            <a:off x="6969125" y="3884674"/>
            <a:ext cx="3549681" cy="176832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Initial P(T) guess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C550F262-555C-7BDA-E817-0EF9F280E5B0}"/>
              </a:ext>
            </a:extLst>
          </p:cNvPr>
          <p:cNvCxnSpPr>
            <a:cxnSpLocks/>
            <a:stCxn id="4" idx="3"/>
            <a:endCxn id="19" idx="2"/>
          </p:cNvCxnSpPr>
          <p:nvPr/>
        </p:nvCxnSpPr>
        <p:spPr>
          <a:xfrm>
            <a:off x="5244670" y="3845153"/>
            <a:ext cx="1724455" cy="923682"/>
          </a:xfrm>
          <a:prstGeom prst="bentConnector3">
            <a:avLst>
              <a:gd name="adj1" fmla="val 66693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7A287215-2052-30AF-0299-1F21CA784073}"/>
              </a:ext>
            </a:extLst>
          </p:cNvPr>
          <p:cNvCxnSpPr>
            <a:cxnSpLocks/>
            <a:stCxn id="8" idx="3"/>
            <a:endCxn id="19" idx="2"/>
          </p:cNvCxnSpPr>
          <p:nvPr/>
        </p:nvCxnSpPr>
        <p:spPr>
          <a:xfrm flipV="1">
            <a:off x="5244668" y="4768836"/>
            <a:ext cx="1724457" cy="129845"/>
          </a:xfrm>
          <a:prstGeom prst="bentConnector3">
            <a:avLst>
              <a:gd name="adj1" fmla="val 66693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908E6E-E8B7-B1DF-061A-34202A8DDF3A}"/>
              </a:ext>
            </a:extLst>
          </p:cNvPr>
          <p:cNvSpPr/>
          <p:nvPr/>
        </p:nvSpPr>
        <p:spPr>
          <a:xfrm>
            <a:off x="12368593" y="1406012"/>
            <a:ext cx="6103459" cy="153508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Climate calculation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2A99C40-8FE2-71DB-7EE6-6949399801D4}"/>
              </a:ext>
            </a:extLst>
          </p:cNvPr>
          <p:cNvSpPr/>
          <p:nvPr/>
        </p:nvSpPr>
        <p:spPr>
          <a:xfrm>
            <a:off x="6969124" y="7479959"/>
            <a:ext cx="6460844" cy="4757661"/>
          </a:xfrm>
          <a:prstGeom prst="roundRect">
            <a:avLst/>
          </a:prstGeom>
          <a:noFill/>
          <a:ln w="127000">
            <a:solidFill>
              <a:srgbClr val="97B6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BCE1645-F5BE-0320-6C2B-E06E509AB2AA}"/>
              </a:ext>
            </a:extLst>
          </p:cNvPr>
          <p:cNvSpPr/>
          <p:nvPr/>
        </p:nvSpPr>
        <p:spPr>
          <a:xfrm>
            <a:off x="12381561" y="3255005"/>
            <a:ext cx="5903760" cy="2475115"/>
          </a:xfrm>
          <a:prstGeom prst="roundRect">
            <a:avLst/>
          </a:prstGeom>
          <a:solidFill>
            <a:srgbClr val="97B6B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Montserrat SemiBold" pitchFamily="2" charset="77"/>
              </a:rPr>
              <a:t>RCE, chemical equilibrium, iterative solution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5AFA21-CADC-B590-6CC3-888FCAB62524}"/>
              </a:ext>
            </a:extLst>
          </p:cNvPr>
          <p:cNvSpPr/>
          <p:nvPr/>
        </p:nvSpPr>
        <p:spPr>
          <a:xfrm>
            <a:off x="7922662" y="6499540"/>
            <a:ext cx="4588934" cy="8192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outputs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F2AA3A79-3C19-1D4A-06BF-E514B07D4F9E}"/>
              </a:ext>
            </a:extLst>
          </p:cNvPr>
          <p:cNvCxnSpPr>
            <a:cxnSpLocks/>
            <a:stCxn id="13" idx="6"/>
            <a:endCxn id="31" idx="1"/>
          </p:cNvCxnSpPr>
          <p:nvPr/>
        </p:nvCxnSpPr>
        <p:spPr>
          <a:xfrm>
            <a:off x="10518805" y="2116352"/>
            <a:ext cx="1862756" cy="2376210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547ADBE-A26A-3892-337D-9AFA9F32DF07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10518806" y="4492561"/>
            <a:ext cx="1849787" cy="276274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51416B1-DC83-66E5-1D24-A7E8C9122670}"/>
              </a:ext>
            </a:extLst>
          </p:cNvPr>
          <p:cNvSpPr/>
          <p:nvPr/>
        </p:nvSpPr>
        <p:spPr>
          <a:xfrm>
            <a:off x="7987997" y="7737098"/>
            <a:ext cx="4423099" cy="926757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P(T) Profile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E88BE1E-0CF3-68AD-65D9-525309747220}"/>
              </a:ext>
            </a:extLst>
          </p:cNvPr>
          <p:cNvSpPr/>
          <p:nvPr/>
        </p:nvSpPr>
        <p:spPr>
          <a:xfrm>
            <a:off x="8005580" y="8920992"/>
            <a:ext cx="4423099" cy="1492702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Molecular abundances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2CF6BF7-55A4-B7F5-FC10-A574479E38C1}"/>
              </a:ext>
            </a:extLst>
          </p:cNvPr>
          <p:cNvSpPr/>
          <p:nvPr/>
        </p:nvSpPr>
        <p:spPr>
          <a:xfrm>
            <a:off x="7958463" y="10504095"/>
            <a:ext cx="4423099" cy="1492702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Cubano" pitchFamily="2" charset="0"/>
              </a:rPr>
              <a:t>Energy transport in atm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7E64E5ED-801F-C3E1-487F-7EC20BC7A217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rot="5400000">
            <a:off x="12390576" y="3556673"/>
            <a:ext cx="769421" cy="5116312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52C3226-FE57-AD2A-A54E-58312881B048}"/>
              </a:ext>
            </a:extLst>
          </p:cNvPr>
          <p:cNvSpPr/>
          <p:nvPr/>
        </p:nvSpPr>
        <p:spPr>
          <a:xfrm>
            <a:off x="14300362" y="6828443"/>
            <a:ext cx="6103459" cy="27067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Cloud postprocessing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A167DF0-5221-38F5-2B07-094BD0B548F4}"/>
              </a:ext>
            </a:extLst>
          </p:cNvPr>
          <p:cNvSpPr/>
          <p:nvPr/>
        </p:nvSpPr>
        <p:spPr>
          <a:xfrm>
            <a:off x="14376050" y="9646180"/>
            <a:ext cx="5903760" cy="1849664"/>
          </a:xfrm>
          <a:prstGeom prst="roundRect">
            <a:avLst/>
          </a:prstGeom>
          <a:solidFill>
            <a:srgbClr val="ECBF8F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Montserrat SemiBold" pitchFamily="2" charset="77"/>
              </a:rPr>
              <a:t>Calculation of cloud profile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7004D1-95D5-1DCB-A518-84B18D013301}"/>
              </a:ext>
            </a:extLst>
          </p:cNvPr>
          <p:cNvSpPr/>
          <p:nvPr/>
        </p:nvSpPr>
        <p:spPr>
          <a:xfrm>
            <a:off x="14150322" y="5344303"/>
            <a:ext cx="2539999" cy="6736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picaso</a:t>
            </a:r>
            <a:endParaRPr lang="en-US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451A465-AF61-CD59-CFB3-0D4833ADF836}"/>
              </a:ext>
            </a:extLst>
          </p:cNvPr>
          <p:cNvSpPr/>
          <p:nvPr/>
        </p:nvSpPr>
        <p:spPr>
          <a:xfrm>
            <a:off x="15909707" y="11241964"/>
            <a:ext cx="2539999" cy="6736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virga</a:t>
            </a:r>
            <a:endParaRPr lang="en-US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B08CCC4-F1A1-B1A5-E4CE-1E00E41F0118}"/>
              </a:ext>
            </a:extLst>
          </p:cNvPr>
          <p:cNvCxnSpPr>
            <a:cxnSpLocks/>
            <a:stCxn id="30" idx="3"/>
            <a:endCxn id="53" idx="1"/>
          </p:cNvCxnSpPr>
          <p:nvPr/>
        </p:nvCxnSpPr>
        <p:spPr>
          <a:xfrm>
            <a:off x="13429968" y="9858790"/>
            <a:ext cx="946082" cy="712223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5F0744D-EE9F-D223-1FDE-BD4E2AA0D688}"/>
              </a:ext>
            </a:extLst>
          </p:cNvPr>
          <p:cNvSpPr/>
          <p:nvPr/>
        </p:nvSpPr>
        <p:spPr>
          <a:xfrm>
            <a:off x="21328217" y="9583818"/>
            <a:ext cx="6460844" cy="1658147"/>
          </a:xfrm>
          <a:prstGeom prst="roundRect">
            <a:avLst/>
          </a:prstGeom>
          <a:noFill/>
          <a:ln w="127000">
            <a:solidFill>
              <a:srgbClr val="ECB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3DB0653-5E08-2895-0CEF-0A4A7B510BEE}"/>
              </a:ext>
            </a:extLst>
          </p:cNvPr>
          <p:cNvSpPr/>
          <p:nvPr/>
        </p:nvSpPr>
        <p:spPr>
          <a:xfrm>
            <a:off x="22281755" y="8603399"/>
            <a:ext cx="4588934" cy="8192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outputs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4590E53A-D179-08BF-5ACD-DCF78828AAD4}"/>
              </a:ext>
            </a:extLst>
          </p:cNvPr>
          <p:cNvSpPr/>
          <p:nvPr/>
        </p:nvSpPr>
        <p:spPr>
          <a:xfrm>
            <a:off x="22347090" y="9840957"/>
            <a:ext cx="4423099" cy="926757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cloud Profile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FD3DD822-77F8-4B47-6631-12B6BBD4C33C}"/>
              </a:ext>
            </a:extLst>
          </p:cNvPr>
          <p:cNvCxnSpPr>
            <a:cxnSpLocks/>
            <a:stCxn id="53" idx="3"/>
            <a:endCxn id="71" idx="1"/>
          </p:cNvCxnSpPr>
          <p:nvPr/>
        </p:nvCxnSpPr>
        <p:spPr>
          <a:xfrm flipV="1">
            <a:off x="20279811" y="10412892"/>
            <a:ext cx="1048407" cy="158121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D5F20908-1ED2-A785-9F09-CC7A85E02EC4}"/>
              </a:ext>
            </a:extLst>
          </p:cNvPr>
          <p:cNvSpPr/>
          <p:nvPr/>
        </p:nvSpPr>
        <p:spPr>
          <a:xfrm>
            <a:off x="20829595" y="1221057"/>
            <a:ext cx="6103459" cy="207709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Spectrum calculation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7A7651C-2B5A-757B-AA99-8DE2085076AB}"/>
              </a:ext>
            </a:extLst>
          </p:cNvPr>
          <p:cNvSpPr/>
          <p:nvPr/>
        </p:nvSpPr>
        <p:spPr>
          <a:xfrm>
            <a:off x="20929444" y="3512394"/>
            <a:ext cx="5903760" cy="2505579"/>
          </a:xfrm>
          <a:prstGeom prst="roundRect">
            <a:avLst/>
          </a:prstGeom>
          <a:solidFill>
            <a:srgbClr val="D5734A">
              <a:alpha val="78875"/>
            </a:srgb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Montserrat SemiBold" pitchFamily="2" charset="77"/>
              </a:rPr>
              <a:t>Calculation of cloud-free and cloudy albedo and planet-star flux contrast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CDA7B10-5441-4FE5-7F91-0F4C81083FF1}"/>
              </a:ext>
            </a:extLst>
          </p:cNvPr>
          <p:cNvCxnSpPr>
            <a:cxnSpLocks/>
            <a:stCxn id="72" idx="0"/>
            <a:endCxn id="83" idx="2"/>
          </p:cNvCxnSpPr>
          <p:nvPr/>
        </p:nvCxnSpPr>
        <p:spPr>
          <a:xfrm rot="16200000" flipV="1">
            <a:off x="23185076" y="7212253"/>
            <a:ext cx="2087394" cy="694899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CF7D7A42-AE2F-D962-C07E-9E81C76E24F9}"/>
              </a:ext>
            </a:extLst>
          </p:cNvPr>
          <p:cNvSpPr/>
          <p:nvPr/>
        </p:nvSpPr>
        <p:spPr>
          <a:xfrm>
            <a:off x="22611324" y="5842335"/>
            <a:ext cx="2539999" cy="6736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picaso</a:t>
            </a:r>
            <a:endParaRPr lang="en-US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CDB9E05A-872A-B3CE-2D98-DCD03E929109}"/>
              </a:ext>
            </a:extLst>
          </p:cNvPr>
          <p:cNvSpPr/>
          <p:nvPr/>
        </p:nvSpPr>
        <p:spPr>
          <a:xfrm>
            <a:off x="28596110" y="3298152"/>
            <a:ext cx="6460844" cy="7770371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B53652C-CDDD-6648-541A-B5513DD7988E}"/>
              </a:ext>
            </a:extLst>
          </p:cNvPr>
          <p:cNvSpPr/>
          <p:nvPr/>
        </p:nvSpPr>
        <p:spPr>
          <a:xfrm>
            <a:off x="29549648" y="1346501"/>
            <a:ext cx="4588934" cy="179045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Final outputs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C5777A8D-4106-5D3E-2EF5-10D3826604F1}"/>
              </a:ext>
            </a:extLst>
          </p:cNvPr>
          <p:cNvSpPr/>
          <p:nvPr/>
        </p:nvSpPr>
        <p:spPr>
          <a:xfrm>
            <a:off x="29614983" y="3555290"/>
            <a:ext cx="4423099" cy="1498692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Star spectrum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E44A1878-905B-7C81-6B9C-6599C16B7954}"/>
              </a:ext>
            </a:extLst>
          </p:cNvPr>
          <p:cNvSpPr/>
          <p:nvPr/>
        </p:nvSpPr>
        <p:spPr>
          <a:xfrm>
            <a:off x="29596020" y="5173961"/>
            <a:ext cx="4423099" cy="1498692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albedo spectrum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06261A79-E5DB-8D41-CB6D-23DAEFD1483B}"/>
              </a:ext>
            </a:extLst>
          </p:cNvPr>
          <p:cNvSpPr/>
          <p:nvPr/>
        </p:nvSpPr>
        <p:spPr>
          <a:xfrm>
            <a:off x="29588747" y="6795724"/>
            <a:ext cx="4423099" cy="2255564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Flux contrast spectrum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5FA9B56C-EF24-27AC-7F99-7DBB5055DB9E}"/>
              </a:ext>
            </a:extLst>
          </p:cNvPr>
          <p:cNvSpPr/>
          <p:nvPr/>
        </p:nvSpPr>
        <p:spPr>
          <a:xfrm>
            <a:off x="29588746" y="9220070"/>
            <a:ext cx="4423099" cy="1498692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Cubano" pitchFamily="2" charset="0"/>
              </a:rPr>
              <a:t>Planet spectrum</a:t>
            </a:r>
          </a:p>
        </p:txBody>
      </p: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D9CB7332-867E-96FD-70A9-1F97222C0E7C}"/>
              </a:ext>
            </a:extLst>
          </p:cNvPr>
          <p:cNvCxnSpPr>
            <a:cxnSpLocks/>
            <a:stCxn id="78" idx="3"/>
            <a:endCxn id="92" idx="1"/>
          </p:cNvCxnSpPr>
          <p:nvPr/>
        </p:nvCxnSpPr>
        <p:spPr>
          <a:xfrm>
            <a:off x="26833204" y="4765183"/>
            <a:ext cx="1762906" cy="2418154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50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30269</TotalTime>
  <Words>254</Words>
  <Application>Microsoft Macintosh PowerPoint</Application>
  <PresentationFormat>Custom</PresentationFormat>
  <Paragraphs>71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Cubano</vt:lpstr>
      <vt:lpstr>Montserrat</vt:lpstr>
      <vt:lpstr>Montserrat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Pearce, Logan</dc:creator>
  <cp:lastModifiedBy>Pearce, Logan</cp:lastModifiedBy>
  <cp:revision>18</cp:revision>
  <dcterms:created xsi:type="dcterms:W3CDTF">2026-01-26T15:34:25Z</dcterms:created>
  <dcterms:modified xsi:type="dcterms:W3CDTF">2026-09-02T17:48:13Z</dcterms:modified>
</cp:coreProperties>
</file>