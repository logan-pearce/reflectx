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6" r:id="rId2"/>
  </p:sldIdLst>
  <p:sldSz cx="41148000" cy="1371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630"/>
    <p:restoredTop sz="94695"/>
  </p:normalViewPr>
  <p:slideViewPr>
    <p:cSldViewPr snapToGrid="0">
      <p:cViewPr>
        <p:scale>
          <a:sx n="37" d="100"/>
          <a:sy n="37" d="100"/>
        </p:scale>
        <p:origin x="-56" y="20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0" y="2244726"/>
            <a:ext cx="30861000" cy="4775200"/>
          </a:xfrm>
        </p:spPr>
        <p:txBody>
          <a:bodyPr anchor="b"/>
          <a:lstStyle>
            <a:lvl1pPr algn="ctr"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0" y="7204076"/>
            <a:ext cx="30861000" cy="3311524"/>
          </a:xfrm>
        </p:spPr>
        <p:txBody>
          <a:bodyPr/>
          <a:lstStyle>
            <a:lvl1pPr marL="0" indent="0" algn="ctr">
              <a:buNone/>
              <a:defRPr sz="4800"/>
            </a:lvl1pPr>
            <a:lvl2pPr marL="914400" indent="0" algn="ctr">
              <a:buNone/>
              <a:defRPr sz="4000"/>
            </a:lvl2pPr>
            <a:lvl3pPr marL="1828800" indent="0" algn="ctr">
              <a:buNone/>
              <a:defRPr sz="3600"/>
            </a:lvl3pPr>
            <a:lvl4pPr marL="2743200" indent="0" algn="ctr">
              <a:buNone/>
              <a:defRPr sz="3200"/>
            </a:lvl4pPr>
            <a:lvl5pPr marL="3657600" indent="0" algn="ctr">
              <a:buNone/>
              <a:defRPr sz="3200"/>
            </a:lvl5pPr>
            <a:lvl6pPr marL="4572000" indent="0" algn="ctr">
              <a:buNone/>
              <a:defRPr sz="3200"/>
            </a:lvl6pPr>
            <a:lvl7pPr marL="5486400" indent="0" algn="ctr">
              <a:buNone/>
              <a:defRPr sz="3200"/>
            </a:lvl7pPr>
            <a:lvl8pPr marL="6400800" indent="0" algn="ctr">
              <a:buNone/>
              <a:defRPr sz="3200"/>
            </a:lvl8pPr>
            <a:lvl9pPr marL="7315200" indent="0" algn="ctr">
              <a:buNone/>
              <a:defRPr sz="3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067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220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494" y="3419477"/>
            <a:ext cx="35490150" cy="5705474"/>
          </a:xfrm>
        </p:spPr>
        <p:txBody>
          <a:bodyPr anchor="b"/>
          <a:lstStyle>
            <a:lvl1pPr>
              <a:defRPr sz="1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494" y="9178927"/>
            <a:ext cx="35490150" cy="3000374"/>
          </a:xfrm>
        </p:spPr>
        <p:txBody>
          <a:bodyPr/>
          <a:lstStyle>
            <a:lvl1pPr marL="0" indent="0">
              <a:buNone/>
              <a:defRPr sz="4800">
                <a:solidFill>
                  <a:schemeClr val="tx1">
                    <a:tint val="82000"/>
                  </a:schemeClr>
                </a:solidFill>
              </a:defRPr>
            </a:lvl1pPr>
            <a:lvl2pPr marL="914400" indent="0">
              <a:buNone/>
              <a:defRPr sz="4000">
                <a:solidFill>
                  <a:schemeClr val="tx1">
                    <a:tint val="82000"/>
                  </a:schemeClr>
                </a:solidFill>
              </a:defRPr>
            </a:lvl2pPr>
            <a:lvl3pPr marL="1828800" indent="0">
              <a:buNone/>
              <a:defRPr sz="3600">
                <a:solidFill>
                  <a:schemeClr val="tx1">
                    <a:tint val="82000"/>
                  </a:schemeClr>
                </a:solidFill>
              </a:defRPr>
            </a:lvl3pPr>
            <a:lvl4pPr marL="2743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4pPr>
            <a:lvl5pPr marL="36576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5pPr>
            <a:lvl6pPr marL="45720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6pPr>
            <a:lvl7pPr marL="54864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7pPr>
            <a:lvl8pPr marL="64008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8pPr>
            <a:lvl9pPr marL="7315200" indent="0">
              <a:buNone/>
              <a:defRPr sz="3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78713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2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75" y="3651250"/>
            <a:ext cx="17487900" cy="87026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056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4" y="730251"/>
            <a:ext cx="35490150" cy="265112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86" y="3362326"/>
            <a:ext cx="17407531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86" y="5010150"/>
            <a:ext cx="17407531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75" y="3362326"/>
            <a:ext cx="17493260" cy="1647824"/>
          </a:xfrm>
        </p:spPr>
        <p:txBody>
          <a:bodyPr anchor="b"/>
          <a:lstStyle>
            <a:lvl1pPr marL="0" indent="0">
              <a:buNone/>
              <a:defRPr sz="4800" b="1"/>
            </a:lvl1pPr>
            <a:lvl2pPr marL="914400" indent="0">
              <a:buNone/>
              <a:defRPr sz="4000" b="1"/>
            </a:lvl2pPr>
            <a:lvl3pPr marL="1828800" indent="0">
              <a:buNone/>
              <a:defRPr sz="3600" b="1"/>
            </a:lvl3pPr>
            <a:lvl4pPr marL="2743200" indent="0">
              <a:buNone/>
              <a:defRPr sz="3200" b="1"/>
            </a:lvl4pPr>
            <a:lvl5pPr marL="3657600" indent="0">
              <a:buNone/>
              <a:defRPr sz="3200" b="1"/>
            </a:lvl5pPr>
            <a:lvl6pPr marL="4572000" indent="0">
              <a:buNone/>
              <a:defRPr sz="3200" b="1"/>
            </a:lvl6pPr>
            <a:lvl7pPr marL="5486400" indent="0">
              <a:buNone/>
              <a:defRPr sz="3200" b="1"/>
            </a:lvl7pPr>
            <a:lvl8pPr marL="6400800" indent="0">
              <a:buNone/>
              <a:defRPr sz="3200" b="1"/>
            </a:lvl8pPr>
            <a:lvl9pPr marL="7315200" indent="0">
              <a:buNone/>
              <a:defRPr sz="3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75" y="5010150"/>
            <a:ext cx="17493260" cy="73691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7666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68642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582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59" y="1974851"/>
            <a:ext cx="20831175" cy="9747250"/>
          </a:xfrm>
        </p:spPr>
        <p:txBody>
          <a:bodyPr/>
          <a:lstStyle>
            <a:lvl1pPr>
              <a:defRPr sz="6400"/>
            </a:lvl1pPr>
            <a:lvl2pPr>
              <a:defRPr sz="5600"/>
            </a:lvl2pPr>
            <a:lvl3pPr>
              <a:defRPr sz="4800"/>
            </a:lvl3pPr>
            <a:lvl4pPr>
              <a:defRPr sz="4000"/>
            </a:lvl4pPr>
            <a:lvl5pPr>
              <a:defRPr sz="4000"/>
            </a:lvl5pPr>
            <a:lvl6pPr>
              <a:defRPr sz="4000"/>
            </a:lvl6pPr>
            <a:lvl7pPr>
              <a:defRPr sz="4000"/>
            </a:lvl7pPr>
            <a:lvl8pPr>
              <a:defRPr sz="4000"/>
            </a:lvl8pPr>
            <a:lvl9pPr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50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6" y="914400"/>
            <a:ext cx="13271300" cy="3200400"/>
          </a:xfrm>
        </p:spPr>
        <p:txBody>
          <a:bodyPr anchor="b"/>
          <a:lstStyle>
            <a:lvl1pPr>
              <a:defRPr sz="6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59" y="1974851"/>
            <a:ext cx="20831175" cy="9747250"/>
          </a:xfrm>
        </p:spPr>
        <p:txBody>
          <a:bodyPr anchor="t"/>
          <a:lstStyle>
            <a:lvl1pPr marL="0" indent="0">
              <a:buNone/>
              <a:defRPr sz="6400"/>
            </a:lvl1pPr>
            <a:lvl2pPr marL="914400" indent="0">
              <a:buNone/>
              <a:defRPr sz="5600"/>
            </a:lvl2pPr>
            <a:lvl3pPr marL="1828800" indent="0">
              <a:buNone/>
              <a:defRPr sz="4800"/>
            </a:lvl3pPr>
            <a:lvl4pPr marL="2743200" indent="0">
              <a:buNone/>
              <a:defRPr sz="4000"/>
            </a:lvl4pPr>
            <a:lvl5pPr marL="3657600" indent="0">
              <a:buNone/>
              <a:defRPr sz="4000"/>
            </a:lvl5pPr>
            <a:lvl6pPr marL="4572000" indent="0">
              <a:buNone/>
              <a:defRPr sz="4000"/>
            </a:lvl6pPr>
            <a:lvl7pPr marL="5486400" indent="0">
              <a:buNone/>
              <a:defRPr sz="4000"/>
            </a:lvl7pPr>
            <a:lvl8pPr marL="6400800" indent="0">
              <a:buNone/>
              <a:defRPr sz="4000"/>
            </a:lvl8pPr>
            <a:lvl9pPr marL="7315200" indent="0">
              <a:buNone/>
              <a:defRPr sz="4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86" y="4114800"/>
            <a:ext cx="13271300" cy="7623176"/>
          </a:xfrm>
        </p:spPr>
        <p:txBody>
          <a:bodyPr/>
          <a:lstStyle>
            <a:lvl1pPr marL="0" indent="0">
              <a:buNone/>
              <a:defRPr sz="3200"/>
            </a:lvl1pPr>
            <a:lvl2pPr marL="914400" indent="0">
              <a:buNone/>
              <a:defRPr sz="2800"/>
            </a:lvl2pPr>
            <a:lvl3pPr marL="1828800" indent="0">
              <a:buNone/>
              <a:defRPr sz="2400"/>
            </a:lvl3pPr>
            <a:lvl4pPr marL="2743200" indent="0">
              <a:buNone/>
              <a:defRPr sz="2000"/>
            </a:lvl4pPr>
            <a:lvl5pPr marL="3657600" indent="0">
              <a:buNone/>
              <a:defRPr sz="2000"/>
            </a:lvl5pPr>
            <a:lvl6pPr marL="4572000" indent="0">
              <a:buNone/>
              <a:defRPr sz="2000"/>
            </a:lvl6pPr>
            <a:lvl7pPr marL="5486400" indent="0">
              <a:buNone/>
              <a:defRPr sz="2000"/>
            </a:lvl7pPr>
            <a:lvl8pPr marL="6400800" indent="0">
              <a:buNone/>
              <a:defRPr sz="2000"/>
            </a:lvl8pPr>
            <a:lvl9pPr marL="73152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4276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768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37" y="730250"/>
            <a:ext cx="8872538" cy="1162367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25" y="730250"/>
            <a:ext cx="26103263" cy="1162367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90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25" y="730251"/>
            <a:ext cx="35490150" cy="26511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25" y="3651250"/>
            <a:ext cx="35490150" cy="87026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2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90150A-1259-1E48-BDE6-16DFA27BFE79}" type="datetimeFigureOut">
              <a:rPr lang="en-US" smtClean="0"/>
              <a:t>1/27/26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75" y="12712701"/>
            <a:ext cx="1388745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75" y="12712701"/>
            <a:ext cx="9258300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369EB0-B879-0A45-8CC8-74C926EF32C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407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28800" rtl="0" eaLnBrk="1" latinLnBrk="0" hangingPunct="1">
        <a:lnSpc>
          <a:spcPct val="90000"/>
        </a:lnSpc>
        <a:spcBef>
          <a:spcPct val="0"/>
        </a:spcBef>
        <a:buNone/>
        <a:defRPr sz="8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18288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56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800" kern="1200">
          <a:solidFill>
            <a:schemeClr val="tx1"/>
          </a:solidFill>
          <a:latin typeface="+mn-lt"/>
          <a:ea typeface="+mn-ea"/>
          <a:cs typeface="+mn-cs"/>
        </a:defRPr>
      </a:lvl2pPr>
      <a:lvl3pPr marL="2286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4000" kern="1200">
          <a:solidFill>
            <a:schemeClr val="tx1"/>
          </a:solidFill>
          <a:latin typeface="+mn-lt"/>
          <a:ea typeface="+mn-ea"/>
          <a:cs typeface="+mn-cs"/>
        </a:defRPr>
      </a:lvl3pPr>
      <a:lvl4pPr marL="3200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41148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50292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9436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8580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772400" indent="-457200" algn="l" defTabSz="18288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828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2743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36576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45720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6pPr>
      <a:lvl7pPr marL="54864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7pPr>
      <a:lvl8pPr marL="64008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7315200" algn="l" defTabSz="1828800" rtl="0" eaLnBrk="1" latinLnBrk="0" hangingPunct="1">
        <a:defRPr sz="3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Rectangle 150">
            <a:extLst>
              <a:ext uri="{FF2B5EF4-FFF2-40B4-BE49-F238E27FC236}">
                <a16:creationId xmlns:a16="http://schemas.microsoft.com/office/drawing/2014/main" id="{414A3C74-3101-C94A-8E95-716124100D0F}"/>
              </a:ext>
            </a:extLst>
          </p:cNvPr>
          <p:cNvSpPr/>
          <p:nvPr/>
        </p:nvSpPr>
        <p:spPr>
          <a:xfrm>
            <a:off x="21789600" y="922022"/>
            <a:ext cx="17988847" cy="544957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Rounded Rectangle 114">
            <a:extLst>
              <a:ext uri="{FF2B5EF4-FFF2-40B4-BE49-F238E27FC236}">
                <a16:creationId xmlns:a16="http://schemas.microsoft.com/office/drawing/2014/main" id="{768AD562-9EA1-4F25-A664-79FCD28B6D45}"/>
              </a:ext>
            </a:extLst>
          </p:cNvPr>
          <p:cNvSpPr/>
          <p:nvPr/>
        </p:nvSpPr>
        <p:spPr>
          <a:xfrm>
            <a:off x="11264140" y="6919884"/>
            <a:ext cx="7758753" cy="5203939"/>
          </a:xfrm>
          <a:prstGeom prst="round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600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3FDAF9FB-9333-9763-06EC-12A16E426BF2}"/>
              </a:ext>
            </a:extLst>
          </p:cNvPr>
          <p:cNvSpPr/>
          <p:nvPr/>
        </p:nvSpPr>
        <p:spPr>
          <a:xfrm>
            <a:off x="11970605" y="8352921"/>
            <a:ext cx="3172910" cy="1339481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Star Spectrum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A5C9657-EB97-0691-EBC4-C49AD39ABDDB}"/>
              </a:ext>
            </a:extLst>
          </p:cNvPr>
          <p:cNvSpPr/>
          <p:nvPr/>
        </p:nvSpPr>
        <p:spPr>
          <a:xfrm>
            <a:off x="15407621" y="8230268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Geometric Albedo Spectra</a:t>
            </a: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C831653B-784B-1F41-2512-71CDD4FF3D8F}"/>
              </a:ext>
            </a:extLst>
          </p:cNvPr>
          <p:cNvCxnSpPr>
            <a:cxnSpLocks/>
            <a:stCxn id="3" idx="4"/>
            <a:endCxn id="113" idx="0"/>
          </p:cNvCxnSpPr>
          <p:nvPr/>
        </p:nvCxnSpPr>
        <p:spPr>
          <a:xfrm>
            <a:off x="13384372" y="3642431"/>
            <a:ext cx="172688" cy="471049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C7C3B697-E564-BBC4-45C1-2A9553D318C1}"/>
              </a:ext>
            </a:extLst>
          </p:cNvPr>
          <p:cNvSpPr/>
          <p:nvPr/>
        </p:nvSpPr>
        <p:spPr>
          <a:xfrm>
            <a:off x="11923045" y="10121384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Fp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/Fs Contrast Spectra</a:t>
            </a: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1806EC86-0DE6-2BD3-465F-1A5EE30AB3AE}"/>
              </a:ext>
            </a:extLst>
          </p:cNvPr>
          <p:cNvSpPr/>
          <p:nvPr/>
        </p:nvSpPr>
        <p:spPr>
          <a:xfrm>
            <a:off x="15326851" y="10121384"/>
            <a:ext cx="3280939" cy="1634935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Planet Spectra</a:t>
            </a:r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5C20E7BB-1C03-DA8C-E232-E983BB469C01}"/>
              </a:ext>
            </a:extLst>
          </p:cNvPr>
          <p:cNvSpPr/>
          <p:nvPr/>
        </p:nvSpPr>
        <p:spPr>
          <a:xfrm>
            <a:off x="20513918" y="6752450"/>
            <a:ext cx="14038695" cy="544957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0D62F7B-9CD1-6C91-4D48-F854B9D14A3A}"/>
              </a:ext>
            </a:extLst>
          </p:cNvPr>
          <p:cNvCxnSpPr>
            <a:cxnSpLocks/>
            <a:stCxn id="3" idx="6"/>
            <a:endCxn id="53" idx="2"/>
          </p:cNvCxnSpPr>
          <p:nvPr/>
        </p:nvCxnSpPr>
        <p:spPr>
          <a:xfrm>
            <a:off x="15707814" y="2269823"/>
            <a:ext cx="6762326" cy="595186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2F485284-2CA7-6C85-899B-E1545F956907}"/>
              </a:ext>
            </a:extLst>
          </p:cNvPr>
          <p:cNvGrpSpPr/>
          <p:nvPr/>
        </p:nvGrpSpPr>
        <p:grpSpPr>
          <a:xfrm>
            <a:off x="512748" y="481848"/>
            <a:ext cx="9407522" cy="12752303"/>
            <a:chOff x="3442447" y="161364"/>
            <a:chExt cx="4883972" cy="6620435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4B7B2E6-0CC7-43E2-1330-254537E38835}"/>
                </a:ext>
              </a:extLst>
            </p:cNvPr>
            <p:cNvSpPr/>
            <p:nvPr/>
          </p:nvSpPr>
          <p:spPr>
            <a:xfrm>
              <a:off x="3442447" y="161364"/>
              <a:ext cx="4883972" cy="6620435"/>
            </a:xfrm>
            <a:prstGeom prst="roundRect">
              <a:avLst/>
            </a:prstGeom>
            <a:solidFill>
              <a:schemeClr val="tx2">
                <a:lumMod val="10000"/>
                <a:lumOff val="9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600" dirty="0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8495CE7E-CFFB-BB1A-EBF1-9248837A8A26}"/>
                </a:ext>
              </a:extLst>
            </p:cNvPr>
            <p:cNvSpPr/>
            <p:nvPr/>
          </p:nvSpPr>
          <p:spPr>
            <a:xfrm>
              <a:off x="3905026" y="821619"/>
              <a:ext cx="1982994" cy="2015585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Planet: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C/O</a:t>
              </a:r>
            </a:p>
            <a:p>
              <a:pPr algn="ctr"/>
              <a:r>
                <a:rPr lang="en-US" sz="36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 err="1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eq</a:t>
              </a:r>
              <a:endParaRPr lang="en-US" sz="3600" baseline="-250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Phase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3101A4BE-DE82-C48B-4A0F-B6029ACE4810}"/>
                </a:ext>
              </a:extLst>
            </p:cNvPr>
            <p:cNvSpPr/>
            <p:nvPr/>
          </p:nvSpPr>
          <p:spPr>
            <a:xfrm>
              <a:off x="6096000" y="821619"/>
              <a:ext cx="1982993" cy="201558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Star: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T</a:t>
              </a:r>
              <a:r>
                <a:rPr lang="en-US" sz="3600" baseline="-25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eff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Mass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Radius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[M/H]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Log(g)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98C17BD-2B56-5FE8-3565-475B424E0D88}"/>
                </a:ext>
              </a:extLst>
            </p:cNvPr>
            <p:cNvSpPr/>
            <p:nvPr/>
          </p:nvSpPr>
          <p:spPr>
            <a:xfrm>
              <a:off x="4587189" y="267223"/>
              <a:ext cx="2773784" cy="425303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inputs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0664C888-06AA-FC89-07C9-EA6B89D91E1B}"/>
                </a:ext>
              </a:extLst>
            </p:cNvPr>
            <p:cNvSpPr/>
            <p:nvPr/>
          </p:nvSpPr>
          <p:spPr>
            <a:xfrm>
              <a:off x="3784002" y="2966296"/>
              <a:ext cx="4294991" cy="259630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Climate calculation settings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K-coefficient opacities (Marley et al. 2020)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Atm pressure: (10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2.5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– 10</a:t>
              </a:r>
              <a:r>
                <a:rPr lang="en-US" sz="3600" baseline="300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-6</a:t>
              </a:r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 Bars)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Atm Levels: 91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N initial Conv Zones: 1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Initial Interior Temp: 100 K</a:t>
              </a:r>
            </a:p>
            <a:p>
              <a:pPr algn="ctr"/>
              <a:r>
                <a:rPr lang="en-US" sz="3600" dirty="0">
                  <a:solidFill>
                    <a:schemeClr val="bg1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Stellar contribution factor: 0.5</a:t>
              </a:r>
            </a:p>
            <a:p>
              <a:pPr algn="ctr"/>
              <a:endPara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endParaRPr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F1DB4515-B6B2-B595-EC40-DEDB97A97E1D}"/>
              </a:ext>
            </a:extLst>
          </p:cNvPr>
          <p:cNvSpPr/>
          <p:nvPr/>
        </p:nvSpPr>
        <p:spPr>
          <a:xfrm>
            <a:off x="11060929" y="897215"/>
            <a:ext cx="4646885" cy="274521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Phoenix Spectrum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96B371-E8EF-504B-E5B7-90435B1A730D}"/>
              </a:ext>
            </a:extLst>
          </p:cNvPr>
          <p:cNvCxnSpPr>
            <a:cxnSpLocks/>
            <a:stCxn id="6" idx="3"/>
            <a:endCxn id="3" idx="2"/>
          </p:cNvCxnSpPr>
          <p:nvPr/>
        </p:nvCxnSpPr>
        <p:spPr>
          <a:xfrm flipV="1">
            <a:off x="9443677" y="2269823"/>
            <a:ext cx="1617252" cy="1425022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>
            <a:extLst>
              <a:ext uri="{FF2B5EF4-FFF2-40B4-BE49-F238E27FC236}">
                <a16:creationId xmlns:a16="http://schemas.microsoft.com/office/drawing/2014/main" id="{79528EAB-D62C-8CC8-8DCB-487CCB44037A}"/>
              </a:ext>
            </a:extLst>
          </p:cNvPr>
          <p:cNvSpPr/>
          <p:nvPr/>
        </p:nvSpPr>
        <p:spPr>
          <a:xfrm>
            <a:off x="15803636" y="1523412"/>
            <a:ext cx="5603502" cy="4514850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Compute initial P(T) guess</a:t>
            </a:r>
          </a:p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(Guillot et al. 2010 </a:t>
            </a:r>
            <a:r>
              <a:rPr lang="en-US" sz="3600" dirty="0" err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eqn</a:t>
            </a:r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 29)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BFB7D4-1814-ABA3-74D9-61F0D06D4D95}"/>
              </a:ext>
            </a:extLst>
          </p:cNvPr>
          <p:cNvCxnSpPr>
            <a:cxnSpLocks/>
            <a:stCxn id="9" idx="3"/>
            <a:endCxn id="13" idx="2"/>
          </p:cNvCxnSpPr>
          <p:nvPr/>
        </p:nvCxnSpPr>
        <p:spPr>
          <a:xfrm flipV="1">
            <a:off x="9920270" y="3780837"/>
            <a:ext cx="5883366" cy="3077163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A5BE4A39-27A5-AAF3-AAF1-1E93B5B53B40}"/>
              </a:ext>
            </a:extLst>
          </p:cNvPr>
          <p:cNvCxnSpPr>
            <a:cxnSpLocks/>
            <a:stCxn id="13" idx="6"/>
            <a:endCxn id="53" idx="2"/>
          </p:cNvCxnSpPr>
          <p:nvPr/>
        </p:nvCxnSpPr>
        <p:spPr>
          <a:xfrm flipV="1">
            <a:off x="21407138" y="2865009"/>
            <a:ext cx="1063002" cy="915828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55E0A7-FFBF-69D4-B2C0-740539BC0E82}"/>
              </a:ext>
            </a:extLst>
          </p:cNvPr>
          <p:cNvCxnSpPr>
            <a:cxnSpLocks/>
          </p:cNvCxnSpPr>
          <p:nvPr/>
        </p:nvCxnSpPr>
        <p:spPr>
          <a:xfrm>
            <a:off x="28707000" y="2922930"/>
            <a:ext cx="1435501" cy="310500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Snip Same Side Corner Rectangle 52">
            <a:extLst>
              <a:ext uri="{FF2B5EF4-FFF2-40B4-BE49-F238E27FC236}">
                <a16:creationId xmlns:a16="http://schemas.microsoft.com/office/drawing/2014/main" id="{509D9AE6-7902-CE47-DA13-0A9A49FD0998}"/>
              </a:ext>
            </a:extLst>
          </p:cNvPr>
          <p:cNvSpPr/>
          <p:nvPr/>
        </p:nvSpPr>
        <p:spPr>
          <a:xfrm>
            <a:off x="22470140" y="1047633"/>
            <a:ext cx="6236860" cy="3634751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iteratively converges to a solution of the radiative transfer equation for radiative/convective equilibrium</a:t>
            </a:r>
          </a:p>
          <a:p>
            <a:pPr algn="ctr"/>
            <a:endParaRPr lang="en-US" sz="405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1BA31F0-527D-E4C6-6356-1C8474381D06}"/>
              </a:ext>
            </a:extLst>
          </p:cNvPr>
          <p:cNvGrpSpPr/>
          <p:nvPr/>
        </p:nvGrpSpPr>
        <p:grpSpPr>
          <a:xfrm>
            <a:off x="30085024" y="1196051"/>
            <a:ext cx="9407523" cy="4542684"/>
            <a:chOff x="2356509" y="4459632"/>
            <a:chExt cx="4181121" cy="2523852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878BD132-D845-3C2F-8309-A4656BC7DE39}"/>
                </a:ext>
              </a:extLst>
            </p:cNvPr>
            <p:cNvSpPr/>
            <p:nvPr/>
          </p:nvSpPr>
          <p:spPr>
            <a:xfrm>
              <a:off x="2546403" y="5139163"/>
              <a:ext cx="1757214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P(T) profile</a:t>
              </a: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5C863DB7-96F8-B7CF-C377-26F4CC7530DA}"/>
                </a:ext>
              </a:extLst>
            </p:cNvPr>
            <p:cNvSpPr/>
            <p:nvPr/>
          </p:nvSpPr>
          <p:spPr>
            <a:xfrm>
              <a:off x="3011185" y="4562638"/>
              <a:ext cx="3141755" cy="419490"/>
            </a:xfrm>
            <a:prstGeom prst="rect">
              <a:avLst/>
            </a:prstGeom>
            <a:solidFill>
              <a:schemeClr val="bg2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54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ubano" pitchFamily="2" charset="0"/>
                </a:rPr>
                <a:t>outputs</a:t>
              </a:r>
              <a:endParaRPr lang="en-US" sz="40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endParaRP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C3731CD4-DF23-2881-C243-A1BEF8824DEA}"/>
                </a:ext>
              </a:extLst>
            </p:cNvPr>
            <p:cNvSpPr/>
            <p:nvPr/>
          </p:nvSpPr>
          <p:spPr>
            <a:xfrm>
              <a:off x="2356509" y="4459632"/>
              <a:ext cx="4181121" cy="2523852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3200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EB36439-1186-3F50-9ED4-B510FD12714F}"/>
                </a:ext>
              </a:extLst>
            </p:cNvPr>
            <p:cNvSpPr/>
            <p:nvPr/>
          </p:nvSpPr>
          <p:spPr>
            <a:xfrm>
              <a:off x="4434150" y="5083619"/>
              <a:ext cx="2065282" cy="872899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Chemical structure (mol abundances)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B72F8DC-F85A-7AD2-8BF9-A53B37D45A80}"/>
                </a:ext>
              </a:extLst>
            </p:cNvPr>
            <p:cNvSpPr/>
            <p:nvPr/>
          </p:nvSpPr>
          <p:spPr>
            <a:xfrm>
              <a:off x="3211981" y="6087714"/>
              <a:ext cx="2535385" cy="749825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600" dirty="0"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Montserrat" pitchFamily="2" charset="77"/>
                </a:rPr>
                <a:t>Energy transport in atm</a:t>
              </a:r>
            </a:p>
          </p:txBody>
        </p:sp>
      </p:grpSp>
      <p:sp>
        <p:nvSpPr>
          <p:cNvPr id="76" name="Snip Same Side Corner Rectangle 75">
            <a:extLst>
              <a:ext uri="{FF2B5EF4-FFF2-40B4-BE49-F238E27FC236}">
                <a16:creationId xmlns:a16="http://schemas.microsoft.com/office/drawing/2014/main" id="{7DC025A7-B250-AFDC-5690-AEBCD35F9D3A}"/>
              </a:ext>
            </a:extLst>
          </p:cNvPr>
          <p:cNvSpPr/>
          <p:nvPr/>
        </p:nvSpPr>
        <p:spPr>
          <a:xfrm>
            <a:off x="28243186" y="7494425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cloud-free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ABE19F60-AA7D-FD2A-CAFA-61AF61A40A41}"/>
              </a:ext>
            </a:extLst>
          </p:cNvPr>
          <p:cNvSpPr/>
          <p:nvPr/>
        </p:nvSpPr>
        <p:spPr>
          <a:xfrm>
            <a:off x="1056537" y="11066069"/>
            <a:ext cx="8354760" cy="1579656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Cloud parameters:</a:t>
            </a: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Sedimentation Efficiency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f_sed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  <a:p>
            <a:pPr algn="ctr"/>
            <a:r>
              <a:rPr lang="en-US" sz="3600" dirty="0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Vertical mixing strength </a:t>
            </a:r>
            <a:r>
              <a:rPr lang="en-US" sz="3600" dirty="0" err="1"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Kzz</a:t>
            </a:r>
            <a:endParaRPr lang="en-US" sz="3600" dirty="0">
              <a:solidFill>
                <a:schemeClr val="bg1"/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Montserrat" pitchFamily="2" charset="77"/>
            </a:endParaRPr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DFAC9682-19CA-703C-74A7-7AC06800DE92}"/>
              </a:ext>
            </a:extLst>
          </p:cNvPr>
          <p:cNvSpPr/>
          <p:nvPr/>
        </p:nvSpPr>
        <p:spPr>
          <a:xfrm>
            <a:off x="35092519" y="6954002"/>
            <a:ext cx="4181432" cy="3707096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Grab cloud profile from VIRGA</a:t>
            </a:r>
          </a:p>
        </p:txBody>
      </p:sp>
      <p:sp>
        <p:nvSpPr>
          <p:cNvPr id="104" name="Snip Same Side Corner Rectangle 103">
            <a:extLst>
              <a:ext uri="{FF2B5EF4-FFF2-40B4-BE49-F238E27FC236}">
                <a16:creationId xmlns:a16="http://schemas.microsoft.com/office/drawing/2014/main" id="{FEC95872-7316-9B7D-38D4-604473451EB1}"/>
              </a:ext>
            </a:extLst>
          </p:cNvPr>
          <p:cNvSpPr/>
          <p:nvPr/>
        </p:nvSpPr>
        <p:spPr>
          <a:xfrm>
            <a:off x="21237215" y="7494424"/>
            <a:ext cx="5848923" cy="4074647"/>
          </a:xfrm>
          <a:prstGeom prst="snip2SameRect">
            <a:avLst/>
          </a:prstGeom>
          <a:solidFill>
            <a:schemeClr val="bg1">
              <a:lumMod val="65000"/>
            </a:schemeClr>
          </a:solidFill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Montserrat" pitchFamily="2" charset="77"/>
              </a:rPr>
              <a:t>PICASO computes cloudy reflected light albedo and contrast spectra</a:t>
            </a:r>
          </a:p>
          <a:p>
            <a:pPr algn="ctr"/>
            <a:endParaRPr lang="en-US" sz="3600" dirty="0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836F82C9-C9D4-28D1-8AF1-DB924EF0F5E4}"/>
              </a:ext>
            </a:extLst>
          </p:cNvPr>
          <p:cNvSpPr txBox="1"/>
          <p:nvPr/>
        </p:nvSpPr>
        <p:spPr>
          <a:xfrm>
            <a:off x="21755383" y="4778738"/>
            <a:ext cx="7935121" cy="13388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50" dirty="0"/>
              <a:t>See Mukherjee et al. 2022 Fig1 for</a:t>
            </a:r>
          </a:p>
          <a:p>
            <a:pPr algn="ctr"/>
            <a:r>
              <a:rPr lang="en-US" sz="4050" dirty="0"/>
              <a:t>Climate solving diagram</a:t>
            </a:r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A64F9232-1C2E-3081-BC46-4329E8CB1648}"/>
              </a:ext>
            </a:extLst>
          </p:cNvPr>
          <p:cNvSpPr/>
          <p:nvPr/>
        </p:nvSpPr>
        <p:spPr>
          <a:xfrm>
            <a:off x="26588343" y="129984"/>
            <a:ext cx="9158608" cy="725798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Climate calculation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cxnSp>
        <p:nvCxnSpPr>
          <p:cNvPr id="193" name="Elbow Connector 192">
            <a:extLst>
              <a:ext uri="{FF2B5EF4-FFF2-40B4-BE49-F238E27FC236}">
                <a16:creationId xmlns:a16="http://schemas.microsoft.com/office/drawing/2014/main" id="{04E0848E-FBA3-B6B7-E308-097B48DB9DCC}"/>
              </a:ext>
            </a:extLst>
          </p:cNvPr>
          <p:cNvCxnSpPr>
            <a:cxnSpLocks/>
            <a:stCxn id="82" idx="2"/>
          </p:cNvCxnSpPr>
          <p:nvPr/>
        </p:nvCxnSpPr>
        <p:spPr>
          <a:xfrm rot="5400000" flipH="1" flipV="1">
            <a:off x="20326372" y="-4402755"/>
            <a:ext cx="1956025" cy="32140936"/>
          </a:xfrm>
          <a:prstGeom prst="bentConnector4">
            <a:avLst>
              <a:gd name="adj1" fmla="val -11687"/>
              <a:gd name="adj2" fmla="val 99986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0" name="Elbow Connector 199">
            <a:extLst>
              <a:ext uri="{FF2B5EF4-FFF2-40B4-BE49-F238E27FC236}">
                <a16:creationId xmlns:a16="http://schemas.microsoft.com/office/drawing/2014/main" id="{5857B0F2-A4EF-2904-9898-23C36C544F1F}"/>
              </a:ext>
            </a:extLst>
          </p:cNvPr>
          <p:cNvCxnSpPr>
            <a:cxnSpLocks/>
            <a:stCxn id="66" idx="3"/>
            <a:endCxn id="87" idx="6"/>
          </p:cNvCxnSpPr>
          <p:nvPr/>
        </p:nvCxnSpPr>
        <p:spPr>
          <a:xfrm flipH="1">
            <a:off x="39273951" y="3467393"/>
            <a:ext cx="218596" cy="5340157"/>
          </a:xfrm>
          <a:prstGeom prst="bentConnector3">
            <a:avLst>
              <a:gd name="adj1" fmla="val -104576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9" name="Elbow Connector 208">
            <a:extLst>
              <a:ext uri="{FF2B5EF4-FFF2-40B4-BE49-F238E27FC236}">
                <a16:creationId xmlns:a16="http://schemas.microsoft.com/office/drawing/2014/main" id="{1511BCD8-CE29-5F7C-86A1-7227FAAB0FB7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 rot="5400000">
            <a:off x="32449277" y="7118881"/>
            <a:ext cx="4055700" cy="770036"/>
          </a:xfrm>
          <a:prstGeom prst="bentConnector2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F47D4F1-9BFF-2D16-2511-505BC5183128}"/>
              </a:ext>
            </a:extLst>
          </p:cNvPr>
          <p:cNvSpPr/>
          <p:nvPr/>
        </p:nvSpPr>
        <p:spPr>
          <a:xfrm>
            <a:off x="22221686" y="6506432"/>
            <a:ext cx="11024937" cy="75799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Spectrum computation step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BE86166F-A696-10D2-B418-A4E86A769348}"/>
              </a:ext>
            </a:extLst>
          </p:cNvPr>
          <p:cNvSpPr txBox="1"/>
          <p:nvPr/>
        </p:nvSpPr>
        <p:spPr>
          <a:xfrm>
            <a:off x="37600838" y="10524765"/>
            <a:ext cx="3547162" cy="32085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50" dirty="0"/>
              <a:t>See Batalha et al. 2025 for</a:t>
            </a:r>
          </a:p>
          <a:p>
            <a:pPr algn="ctr"/>
            <a:r>
              <a:rPr lang="en-US" sz="4050" dirty="0"/>
              <a:t>how Virga computes cloud profile</a:t>
            </a:r>
          </a:p>
        </p:txBody>
      </p:sp>
      <p:cxnSp>
        <p:nvCxnSpPr>
          <p:cNvPr id="233" name="Straight Arrow Connector 232">
            <a:extLst>
              <a:ext uri="{FF2B5EF4-FFF2-40B4-BE49-F238E27FC236}">
                <a16:creationId xmlns:a16="http://schemas.microsoft.com/office/drawing/2014/main" id="{E89BDFA3-5591-EBEE-0B03-132E080DABBA}"/>
              </a:ext>
            </a:extLst>
          </p:cNvPr>
          <p:cNvCxnSpPr>
            <a:cxnSpLocks/>
            <a:stCxn id="104" idx="2"/>
            <a:endCxn id="115" idx="3"/>
          </p:cNvCxnSpPr>
          <p:nvPr/>
        </p:nvCxnSpPr>
        <p:spPr>
          <a:xfrm flipH="1" flipV="1">
            <a:off x="19022893" y="9521854"/>
            <a:ext cx="2214322" cy="9894"/>
          </a:xfrm>
          <a:prstGeom prst="straightConnector1">
            <a:avLst/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237">
            <a:extLst>
              <a:ext uri="{FF2B5EF4-FFF2-40B4-BE49-F238E27FC236}">
                <a16:creationId xmlns:a16="http://schemas.microsoft.com/office/drawing/2014/main" id="{A15E88A5-E3CF-2D6E-D7CC-C093A3FA5F83}"/>
              </a:ext>
            </a:extLst>
          </p:cNvPr>
          <p:cNvCxnSpPr>
            <a:cxnSpLocks/>
            <a:stCxn id="76" idx="1"/>
            <a:endCxn id="115" idx="3"/>
          </p:cNvCxnSpPr>
          <p:nvPr/>
        </p:nvCxnSpPr>
        <p:spPr>
          <a:xfrm rot="5400000" flipH="1">
            <a:off x="24071662" y="4473086"/>
            <a:ext cx="2047218" cy="12144755"/>
          </a:xfrm>
          <a:prstGeom prst="bentConnector4">
            <a:avLst>
              <a:gd name="adj1" fmla="val -11166"/>
              <a:gd name="adj2" fmla="val 92157"/>
            </a:avLst>
          </a:prstGeom>
          <a:ln w="57150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>
            <a:extLst>
              <a:ext uri="{FF2B5EF4-FFF2-40B4-BE49-F238E27FC236}">
                <a16:creationId xmlns:a16="http://schemas.microsoft.com/office/drawing/2014/main" id="{63A07BBD-16C9-25E9-A726-DC910321AB2C}"/>
              </a:ext>
            </a:extLst>
          </p:cNvPr>
          <p:cNvSpPr/>
          <p:nvPr/>
        </p:nvSpPr>
        <p:spPr>
          <a:xfrm>
            <a:off x="12318166" y="7172276"/>
            <a:ext cx="5896435" cy="759757"/>
          </a:xfrm>
          <a:prstGeom prst="rect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5400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ubano" pitchFamily="2" charset="0"/>
              </a:rPr>
              <a:t>Final output</a:t>
            </a:r>
            <a:endParaRPr lang="en-US" sz="4000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ubano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48655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5735</TotalTime>
  <Words>201</Words>
  <Application>Microsoft Macintosh PowerPoint</Application>
  <PresentationFormat>Custom</PresentationFormat>
  <Paragraphs>46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Cubano</vt:lpstr>
      <vt:lpstr>Montserrat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Pearce, Logan</dc:creator>
  <cp:lastModifiedBy>Pearce, Logan</cp:lastModifiedBy>
  <cp:revision>7</cp:revision>
  <dcterms:created xsi:type="dcterms:W3CDTF">2026-01-26T15:34:25Z</dcterms:created>
  <dcterms:modified xsi:type="dcterms:W3CDTF">2026-01-30T15:12:29Z</dcterms:modified>
</cp:coreProperties>
</file>