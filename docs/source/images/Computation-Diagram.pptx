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2192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55"/>
    <p:restoredTop sz="94695"/>
  </p:normalViewPr>
  <p:slideViewPr>
    <p:cSldViewPr snapToGrid="0">
      <p:cViewPr>
        <p:scale>
          <a:sx n="68" d="100"/>
          <a:sy n="68" d="100"/>
        </p:scale>
        <p:origin x="21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992968"/>
            <a:ext cx="10363200" cy="6366933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605435"/>
            <a:ext cx="9144000" cy="4415365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795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853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59305"/>
            <a:ext cx="10515600" cy="760729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2238572"/>
            <a:ext cx="10515600" cy="400049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73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868333"/>
            <a:ext cx="51816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868333"/>
            <a:ext cx="51816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845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3670"/>
            <a:ext cx="10515600" cy="35348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4483101"/>
            <a:ext cx="5157787" cy="219709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6680200"/>
            <a:ext cx="5157787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4483101"/>
            <a:ext cx="5183188" cy="219709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6680200"/>
            <a:ext cx="5183188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84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28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958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219200"/>
            <a:ext cx="3932237" cy="42672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633137"/>
            <a:ext cx="6172200" cy="1299633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486400"/>
            <a:ext cx="3932237" cy="1016423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216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219200"/>
            <a:ext cx="3932237" cy="42672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633137"/>
            <a:ext cx="6172200" cy="12996333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486400"/>
            <a:ext cx="3932237" cy="1016423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5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490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973666"/>
            <a:ext cx="2628900" cy="154982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973666"/>
            <a:ext cx="7734300" cy="154982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385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73670"/>
            <a:ext cx="1051560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868333"/>
            <a:ext cx="1051560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950271"/>
            <a:ext cx="2743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950271"/>
            <a:ext cx="2743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406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F485284-2CA7-6C85-899B-E1545F956907}"/>
              </a:ext>
            </a:extLst>
          </p:cNvPr>
          <p:cNvGrpSpPr/>
          <p:nvPr/>
        </p:nvGrpSpPr>
        <p:grpSpPr>
          <a:xfrm>
            <a:off x="483347" y="593164"/>
            <a:ext cx="4883972" cy="6620435"/>
            <a:chOff x="3442447" y="161364"/>
            <a:chExt cx="4883972" cy="6620435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8495CE7E-CFFB-BB1A-EBF1-9248837A8A26}"/>
                </a:ext>
              </a:extLst>
            </p:cNvPr>
            <p:cNvSpPr/>
            <p:nvPr/>
          </p:nvSpPr>
          <p:spPr>
            <a:xfrm>
              <a:off x="3905026" y="821619"/>
              <a:ext cx="1982994" cy="2015585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Planet: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Mass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Radius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[M/H]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C/O</a:t>
              </a:r>
            </a:p>
            <a:p>
              <a:pPr algn="ctr"/>
              <a:r>
                <a:rPr lang="en-US" dirty="0" err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T</a:t>
              </a:r>
              <a:r>
                <a:rPr lang="en-US" baseline="-25000" dirty="0" err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eq</a:t>
              </a:r>
              <a:endParaRPr lang="en-US" baseline="-250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endParaRP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Phase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3101A4BE-DE82-C48B-4A0F-B6029ACE4810}"/>
                </a:ext>
              </a:extLst>
            </p:cNvPr>
            <p:cNvSpPr/>
            <p:nvPr/>
          </p:nvSpPr>
          <p:spPr>
            <a:xfrm>
              <a:off x="6096000" y="821619"/>
              <a:ext cx="1982993" cy="201558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Star: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T</a:t>
              </a:r>
              <a:r>
                <a:rPr lang="en-US" baseline="-25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eff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Mass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Radius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[M/H]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Log(g)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98C17BD-2B56-5FE8-3565-475B424E0D88}"/>
                </a:ext>
              </a:extLst>
            </p:cNvPr>
            <p:cNvSpPr/>
            <p:nvPr/>
          </p:nvSpPr>
          <p:spPr>
            <a:xfrm>
              <a:off x="4587189" y="267223"/>
              <a:ext cx="2773784" cy="42530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inputs</a:t>
              </a:r>
              <a:endParaRPr lang="en-US" sz="2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0664C888-06AA-FC89-07C9-EA6B89D91E1B}"/>
                </a:ext>
              </a:extLst>
            </p:cNvPr>
            <p:cNvSpPr/>
            <p:nvPr/>
          </p:nvSpPr>
          <p:spPr>
            <a:xfrm>
              <a:off x="3784002" y="2966296"/>
              <a:ext cx="4294991" cy="259630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Climate calculation settings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K-coefficient opacities (Marley et al. 2020)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Atm pressure: (10</a:t>
              </a:r>
              <a:r>
                <a:rPr lang="en-US" baseline="30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2.5</a:t>
              </a:r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 – 10</a:t>
              </a:r>
              <a:r>
                <a:rPr lang="en-US" baseline="30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-6</a:t>
              </a:r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 Bars)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N Atm Levels: 91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N initial Conv Zones: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Initial Interior Temp: 100 K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Heat redistribution factor: 0.5</a:t>
              </a:r>
            </a:p>
            <a:p>
              <a:pPr algn="ctr"/>
              <a:endPara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endParaRP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4B7B2E6-0CC7-43E2-1330-254537E38835}"/>
                </a:ext>
              </a:extLst>
            </p:cNvPr>
            <p:cNvSpPr/>
            <p:nvPr/>
          </p:nvSpPr>
          <p:spPr>
            <a:xfrm>
              <a:off x="3442447" y="161364"/>
              <a:ext cx="4883972" cy="6620435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F1DB4515-B6B2-B595-EC40-DEDB97A97E1D}"/>
              </a:ext>
            </a:extLst>
          </p:cNvPr>
          <p:cNvSpPr/>
          <p:nvPr/>
        </p:nvSpPr>
        <p:spPr>
          <a:xfrm>
            <a:off x="5829898" y="356123"/>
            <a:ext cx="2065282" cy="1220096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Grab Phoenix Spectrum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96B371-E8EF-504B-E5B7-90435B1A730D}"/>
              </a:ext>
            </a:extLst>
          </p:cNvPr>
          <p:cNvCxnSpPr>
            <a:cxnSpLocks/>
            <a:stCxn id="6" idx="3"/>
            <a:endCxn id="3" idx="2"/>
          </p:cNvCxnSpPr>
          <p:nvPr/>
        </p:nvCxnSpPr>
        <p:spPr>
          <a:xfrm flipV="1">
            <a:off x="5119893" y="966171"/>
            <a:ext cx="710005" cy="1295040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9528EAB-D62C-8CC8-8DCB-487CCB44037A}"/>
              </a:ext>
            </a:extLst>
          </p:cNvPr>
          <p:cNvSpPr/>
          <p:nvPr/>
        </p:nvSpPr>
        <p:spPr>
          <a:xfrm>
            <a:off x="5938974" y="1725843"/>
            <a:ext cx="2065282" cy="2006600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Compute initial P(T) guess</a:t>
            </a:r>
          </a:p>
          <a:p>
            <a:pPr algn="ctr"/>
            <a:r>
              <a:rPr lang="en-US" sz="2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(Guillot et al. 2010)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BFB7D4-1814-ABA3-74D9-61F0D06D4D95}"/>
              </a:ext>
            </a:extLst>
          </p:cNvPr>
          <p:cNvCxnSpPr>
            <a:cxnSpLocks/>
            <a:stCxn id="9" idx="3"/>
            <a:endCxn id="13" idx="2"/>
          </p:cNvCxnSpPr>
          <p:nvPr/>
        </p:nvCxnSpPr>
        <p:spPr>
          <a:xfrm flipV="1">
            <a:off x="5367319" y="2729143"/>
            <a:ext cx="571655" cy="1174239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0D62F7B-9CD1-6C91-4D48-F854B9D14A3A}"/>
              </a:ext>
            </a:extLst>
          </p:cNvPr>
          <p:cNvCxnSpPr>
            <a:cxnSpLocks/>
            <a:stCxn id="3" idx="6"/>
            <a:endCxn id="53" idx="2"/>
          </p:cNvCxnSpPr>
          <p:nvPr/>
        </p:nvCxnSpPr>
        <p:spPr>
          <a:xfrm>
            <a:off x="7895180" y="966171"/>
            <a:ext cx="994783" cy="1647999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16F4A9E0-992F-5874-88C3-3AF69C7F3E85}"/>
              </a:ext>
            </a:extLst>
          </p:cNvPr>
          <p:cNvSpPr txBox="1"/>
          <p:nvPr/>
        </p:nvSpPr>
        <p:spPr>
          <a:xfrm>
            <a:off x="7569200" y="159368"/>
            <a:ext cx="469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natashabatalha.github.io</a:t>
            </a:r>
            <a:r>
              <a:rPr lang="en-US" dirty="0"/>
              <a:t>/</a:t>
            </a:r>
            <a:r>
              <a:rPr lang="en-US" dirty="0" err="1"/>
              <a:t>picaso_dev</a:t>
            </a:r>
            <a:endParaRPr lang="en-US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5BE4A39-27A5-AAF3-AAF1-1E93B5B53B40}"/>
              </a:ext>
            </a:extLst>
          </p:cNvPr>
          <p:cNvCxnSpPr>
            <a:cxnSpLocks/>
            <a:stCxn id="13" idx="6"/>
            <a:endCxn id="53" idx="2"/>
          </p:cNvCxnSpPr>
          <p:nvPr/>
        </p:nvCxnSpPr>
        <p:spPr>
          <a:xfrm flipV="1">
            <a:off x="8004256" y="2614170"/>
            <a:ext cx="885707" cy="114973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9BEF366D-5A68-DAAC-35AF-E8FAE05EF939}"/>
              </a:ext>
            </a:extLst>
          </p:cNvPr>
          <p:cNvSpPr txBox="1"/>
          <p:nvPr/>
        </p:nvSpPr>
        <p:spPr>
          <a:xfrm>
            <a:off x="8609853" y="453215"/>
            <a:ext cx="3145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how PICASO treats RT </a:t>
            </a:r>
            <a:r>
              <a:rPr lang="en-US" dirty="0" err="1"/>
              <a:t>eqn</a:t>
            </a:r>
            <a:endParaRPr lang="en-US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55E0A7-FFBF-69D4-B2C0-740539BC0E82}"/>
              </a:ext>
            </a:extLst>
          </p:cNvPr>
          <p:cNvCxnSpPr>
            <a:cxnSpLocks/>
            <a:stCxn id="53" idx="1"/>
            <a:endCxn id="66" idx="0"/>
          </p:cNvCxnSpPr>
          <p:nvPr/>
        </p:nvCxnSpPr>
        <p:spPr>
          <a:xfrm flipH="1">
            <a:off x="8359521" y="3700020"/>
            <a:ext cx="1963254" cy="566558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nip Same Side Corner Rectangle 52">
            <a:extLst>
              <a:ext uri="{FF2B5EF4-FFF2-40B4-BE49-F238E27FC236}">
                <a16:creationId xmlns:a16="http://schemas.microsoft.com/office/drawing/2014/main" id="{509D9AE6-7902-CE47-DA13-0A9A49FD0998}"/>
              </a:ext>
            </a:extLst>
          </p:cNvPr>
          <p:cNvSpPr/>
          <p:nvPr/>
        </p:nvSpPr>
        <p:spPr>
          <a:xfrm>
            <a:off x="8889963" y="1528320"/>
            <a:ext cx="2865623" cy="2171700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iteratively converges to a solution of the radiative transfer equation for radiative/convective equilibrium</a:t>
            </a:r>
          </a:p>
          <a:p>
            <a:pPr algn="ctr"/>
            <a:endParaRPr lang="en-US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A1BA31F0-527D-E4C6-6356-1C8474381D06}"/>
              </a:ext>
            </a:extLst>
          </p:cNvPr>
          <p:cNvGrpSpPr/>
          <p:nvPr/>
        </p:nvGrpSpPr>
        <p:grpSpPr>
          <a:xfrm>
            <a:off x="5917535" y="4266578"/>
            <a:ext cx="4883972" cy="3947769"/>
            <a:chOff x="1978567" y="4459631"/>
            <a:chExt cx="4883972" cy="3947769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78BD132-D845-3C2F-8309-A4656BC7DE39}"/>
                </a:ext>
              </a:extLst>
            </p:cNvPr>
            <p:cNvSpPr/>
            <p:nvPr/>
          </p:nvSpPr>
          <p:spPr>
            <a:xfrm>
              <a:off x="2392083" y="5484676"/>
              <a:ext cx="1757214" cy="74982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P(T) profile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C863DB7-96F8-B7CF-C377-26F4CC7530DA}"/>
                </a:ext>
              </a:extLst>
            </p:cNvPr>
            <p:cNvSpPr/>
            <p:nvPr/>
          </p:nvSpPr>
          <p:spPr>
            <a:xfrm>
              <a:off x="2642054" y="4600918"/>
              <a:ext cx="3711682" cy="42530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Climate outputs</a:t>
              </a:r>
              <a:endParaRPr lang="en-US" sz="2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endParaRP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C3731CD4-DF23-2881-C243-A1BEF8824DEA}"/>
                </a:ext>
              </a:extLst>
            </p:cNvPr>
            <p:cNvSpPr/>
            <p:nvPr/>
          </p:nvSpPr>
          <p:spPr>
            <a:xfrm>
              <a:off x="1978567" y="4459631"/>
              <a:ext cx="4883972" cy="394776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EB36439-1186-3F50-9ED4-B510FD12714F}"/>
                </a:ext>
              </a:extLst>
            </p:cNvPr>
            <p:cNvSpPr/>
            <p:nvPr/>
          </p:nvSpPr>
          <p:spPr>
            <a:xfrm>
              <a:off x="4458616" y="5213549"/>
              <a:ext cx="2065282" cy="13894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Molecular abundances as a function of pressure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B72F8DC-F85A-7AD2-8BF9-A53B37D45A80}"/>
                </a:ext>
              </a:extLst>
            </p:cNvPr>
            <p:cNvSpPr/>
            <p:nvPr/>
          </p:nvSpPr>
          <p:spPr>
            <a:xfrm>
              <a:off x="2371182" y="6790280"/>
              <a:ext cx="2535385" cy="13335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Prediction of what cloud species will condense where</a:t>
              </a:r>
            </a:p>
          </p:txBody>
        </p: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A3B853B9-467C-50D8-D4FA-88B137688FAA}"/>
              </a:ext>
            </a:extLst>
          </p:cNvPr>
          <p:cNvCxnSpPr>
            <a:cxnSpLocks/>
            <a:stCxn id="82" idx="2"/>
            <a:endCxn id="87" idx="0"/>
          </p:cNvCxnSpPr>
          <p:nvPr/>
        </p:nvCxnSpPr>
        <p:spPr>
          <a:xfrm>
            <a:off x="2972397" y="6894022"/>
            <a:ext cx="360665" cy="543618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Snip Same Side Corner Rectangle 75">
            <a:extLst>
              <a:ext uri="{FF2B5EF4-FFF2-40B4-BE49-F238E27FC236}">
                <a16:creationId xmlns:a16="http://schemas.microsoft.com/office/drawing/2014/main" id="{7DC025A7-B250-AFDC-5690-AEBCD35F9D3A}"/>
              </a:ext>
            </a:extLst>
          </p:cNvPr>
          <p:cNvSpPr/>
          <p:nvPr/>
        </p:nvSpPr>
        <p:spPr>
          <a:xfrm>
            <a:off x="9341148" y="8430593"/>
            <a:ext cx="2599521" cy="1810954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computes cloud-free reflected light albedo and contrast spectra</a:t>
            </a:r>
          </a:p>
          <a:p>
            <a:pPr algn="ctr"/>
            <a:endParaRPr lang="en-US" dirty="0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F42077B-441D-0B9D-D7CE-3BB17FA026D7}"/>
              </a:ext>
            </a:extLst>
          </p:cNvPr>
          <p:cNvCxnSpPr>
            <a:cxnSpLocks/>
            <a:stCxn id="66" idx="2"/>
            <a:endCxn id="76" idx="3"/>
          </p:cNvCxnSpPr>
          <p:nvPr/>
        </p:nvCxnSpPr>
        <p:spPr>
          <a:xfrm>
            <a:off x="8359521" y="8214347"/>
            <a:ext cx="2281388" cy="216246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ABE19F60-AA7D-FD2A-CAFA-61AF61A40A41}"/>
              </a:ext>
            </a:extLst>
          </p:cNvPr>
          <p:cNvSpPr/>
          <p:nvPr/>
        </p:nvSpPr>
        <p:spPr>
          <a:xfrm>
            <a:off x="803685" y="6073934"/>
            <a:ext cx="4337424" cy="8200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Cloud parameters:</a:t>
            </a: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Sedimentation Efficiency </a:t>
            </a:r>
            <a:r>
              <a:rPr lang="en-US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f_sed</a:t>
            </a:r>
            <a:endParaRPr lang="en-US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Vertical mixing strength </a:t>
            </a:r>
            <a:r>
              <a:rPr lang="en-US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Kzz</a:t>
            </a:r>
            <a:endParaRPr lang="en-US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DFAC9682-19CA-703C-74A7-7AC06800DE92}"/>
              </a:ext>
            </a:extLst>
          </p:cNvPr>
          <p:cNvSpPr/>
          <p:nvPr/>
        </p:nvSpPr>
        <p:spPr>
          <a:xfrm>
            <a:off x="2136495" y="7437640"/>
            <a:ext cx="2393134" cy="1898430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Grab cloud profile from VIRGA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BB1FE2E1-29C3-033B-933A-0952A307D62A}"/>
              </a:ext>
            </a:extLst>
          </p:cNvPr>
          <p:cNvCxnSpPr>
            <a:cxnSpLocks/>
            <a:stCxn id="70" idx="1"/>
            <a:endCxn id="87" idx="6"/>
          </p:cNvCxnSpPr>
          <p:nvPr/>
        </p:nvCxnSpPr>
        <p:spPr>
          <a:xfrm flipH="1">
            <a:off x="4529629" y="7263977"/>
            <a:ext cx="1780521" cy="1122878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Snip Same Side Corner Rectangle 103">
            <a:extLst>
              <a:ext uri="{FF2B5EF4-FFF2-40B4-BE49-F238E27FC236}">
                <a16:creationId xmlns:a16="http://schemas.microsoft.com/office/drawing/2014/main" id="{FEC95872-7316-9B7D-38D4-604473451EB1}"/>
              </a:ext>
            </a:extLst>
          </p:cNvPr>
          <p:cNvSpPr/>
          <p:nvPr/>
        </p:nvSpPr>
        <p:spPr>
          <a:xfrm>
            <a:off x="5829898" y="8508504"/>
            <a:ext cx="2599521" cy="1810954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computes cloudy reflected light albedo and contrast spectra</a:t>
            </a:r>
          </a:p>
          <a:p>
            <a:pPr algn="ctr"/>
            <a:endParaRPr lang="en-US" dirty="0"/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F100E5F-4140-176C-610D-641F11798DC1}"/>
              </a:ext>
            </a:extLst>
          </p:cNvPr>
          <p:cNvCxnSpPr>
            <a:cxnSpLocks/>
            <a:stCxn id="87" idx="5"/>
            <a:endCxn id="104" idx="2"/>
          </p:cNvCxnSpPr>
          <p:nvPr/>
        </p:nvCxnSpPr>
        <p:spPr>
          <a:xfrm>
            <a:off x="4179163" y="9058051"/>
            <a:ext cx="1650735" cy="355930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39A60383-6F34-6BA2-310A-99A38304F537}"/>
              </a:ext>
            </a:extLst>
          </p:cNvPr>
          <p:cNvGrpSpPr/>
          <p:nvPr/>
        </p:nvGrpSpPr>
        <p:grpSpPr>
          <a:xfrm>
            <a:off x="694914" y="9732251"/>
            <a:ext cx="4883972" cy="2913102"/>
            <a:chOff x="1788281" y="11159533"/>
            <a:chExt cx="4883972" cy="2913102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3E836723-AA02-58FC-F3F5-EC923E259BA0}"/>
                </a:ext>
              </a:extLst>
            </p:cNvPr>
            <p:cNvGrpSpPr/>
            <p:nvPr/>
          </p:nvGrpSpPr>
          <p:grpSpPr>
            <a:xfrm>
              <a:off x="1788281" y="11159533"/>
              <a:ext cx="4883972" cy="2913102"/>
              <a:chOff x="1978567" y="4459632"/>
              <a:chExt cx="4883972" cy="2913102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3FDAF9FB-9333-9763-06EC-12A16E426BF2}"/>
                  </a:ext>
                </a:extLst>
              </p:cNvPr>
              <p:cNvSpPr/>
              <p:nvPr/>
            </p:nvSpPr>
            <p:spPr>
              <a:xfrm>
                <a:off x="2535583" y="5296244"/>
                <a:ext cx="1757214" cy="749825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latin typeface="Montserrat" pitchFamily="2" charset="77"/>
                  </a:rPr>
                  <a:t>Star Spectrum</a:t>
                </a:r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63A07BBD-16C9-25E9-A726-DC910321AB2C}"/>
                  </a:ext>
                </a:extLst>
              </p:cNvPr>
              <p:cNvSpPr/>
              <p:nvPr/>
            </p:nvSpPr>
            <p:spPr>
              <a:xfrm>
                <a:off x="2642054" y="4600918"/>
                <a:ext cx="3711682" cy="425303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latin typeface="Cubano" pitchFamily="2" charset="0"/>
                  </a:rPr>
                  <a:t>spectra output</a:t>
                </a:r>
                <a:endParaRPr lang="en-US" sz="20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endParaRPr>
              </a:p>
            </p:txBody>
          </p:sp>
          <p:sp>
            <p:nvSpPr>
              <p:cNvPr id="115" name="Rounded Rectangle 114">
                <a:extLst>
                  <a:ext uri="{FF2B5EF4-FFF2-40B4-BE49-F238E27FC236}">
                    <a16:creationId xmlns:a16="http://schemas.microsoft.com/office/drawing/2014/main" id="{768AD562-9EA1-4F25-A664-79FCD28B6D45}"/>
                  </a:ext>
                </a:extLst>
              </p:cNvPr>
              <p:cNvSpPr/>
              <p:nvPr/>
            </p:nvSpPr>
            <p:spPr>
              <a:xfrm>
                <a:off x="1978567" y="4459632"/>
                <a:ext cx="4883972" cy="291310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7A5C9657-EB97-0691-EBC4-C49AD39ABDDB}"/>
                  </a:ext>
                </a:extLst>
              </p:cNvPr>
              <p:cNvSpPr/>
              <p:nvPr/>
            </p:nvSpPr>
            <p:spPr>
              <a:xfrm>
                <a:off x="4458616" y="5213549"/>
                <a:ext cx="2065282" cy="915217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latin typeface="Montserrat" pitchFamily="2" charset="77"/>
                  </a:rPr>
                  <a:t>Geometric Albedo Spectra</a:t>
                </a:r>
              </a:p>
            </p:txBody>
          </p:sp>
        </p:grp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7C3B697-E564-BBC4-45C1-2A9553D318C1}"/>
                </a:ext>
              </a:extLst>
            </p:cNvPr>
            <p:cNvSpPr/>
            <p:nvPr/>
          </p:nvSpPr>
          <p:spPr>
            <a:xfrm>
              <a:off x="2203048" y="12951694"/>
              <a:ext cx="2065282" cy="91521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Fp</a:t>
              </a:r>
              <a:r>
                <a:rPr lang="en-US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/Fs Contrast Spectra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1806EC86-0DE6-2BD3-465F-1A5EE30AB3AE}"/>
                </a:ext>
              </a:extLst>
            </p:cNvPr>
            <p:cNvSpPr/>
            <p:nvPr/>
          </p:nvSpPr>
          <p:spPr>
            <a:xfrm>
              <a:off x="4345672" y="12951694"/>
              <a:ext cx="2065282" cy="91521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Planet Spectra</a:t>
              </a:r>
            </a:p>
          </p:txBody>
        </p:sp>
      </p:grp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5CB4FB9C-FB5C-B273-27BB-9782E59BBC4A}"/>
              </a:ext>
            </a:extLst>
          </p:cNvPr>
          <p:cNvCxnSpPr>
            <a:cxnSpLocks/>
            <a:stCxn id="104" idx="1"/>
            <a:endCxn id="115" idx="3"/>
          </p:cNvCxnSpPr>
          <p:nvPr/>
        </p:nvCxnSpPr>
        <p:spPr>
          <a:xfrm flipH="1">
            <a:off x="5578886" y="10319458"/>
            <a:ext cx="1550773" cy="869344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282D78C7-EF19-851B-98B6-BE408EEFDD43}"/>
              </a:ext>
            </a:extLst>
          </p:cNvPr>
          <p:cNvCxnSpPr>
            <a:cxnSpLocks/>
            <a:stCxn id="76" idx="1"/>
            <a:endCxn id="115" idx="3"/>
          </p:cNvCxnSpPr>
          <p:nvPr/>
        </p:nvCxnSpPr>
        <p:spPr>
          <a:xfrm flipH="1">
            <a:off x="5578886" y="10241547"/>
            <a:ext cx="5062023" cy="947255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4865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1733</TotalTime>
  <Words>193</Words>
  <Application>Microsoft Macintosh PowerPoint</Application>
  <PresentationFormat>Custom</PresentationFormat>
  <Paragraphs>42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Cubano</vt:lpstr>
      <vt:lpstr>Montserrat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Pearce, Logan</dc:creator>
  <cp:lastModifiedBy>Pearce, Logan</cp:lastModifiedBy>
  <cp:revision>6</cp:revision>
  <dcterms:created xsi:type="dcterms:W3CDTF">2026-01-26T15:34:25Z</dcterms:created>
  <dcterms:modified xsi:type="dcterms:W3CDTF">2026-01-27T20:30:16Z</dcterms:modified>
</cp:coreProperties>
</file>