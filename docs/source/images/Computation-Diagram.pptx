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</p:sldIdLst>
  <p:sldSz cx="41148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B6B1"/>
    <a:srgbClr val="D5734A"/>
    <a:srgbClr val="F2CFEE"/>
    <a:srgbClr val="507F9F"/>
    <a:srgbClr val="FBE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30"/>
    <p:restoredTop sz="94748"/>
  </p:normalViewPr>
  <p:slideViewPr>
    <p:cSldViewPr snapToGrid="0">
      <p:cViewPr>
        <p:scale>
          <a:sx n="27" d="100"/>
          <a:sy n="27" d="100"/>
        </p:scale>
        <p:origin x="1336" y="2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0" y="2244726"/>
            <a:ext cx="30861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0" y="7204076"/>
            <a:ext cx="30861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50A-1259-1E48-BDE6-16DFA27BFE79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67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50A-1259-1E48-BDE6-16DFA27BFE79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220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7494" y="3419477"/>
            <a:ext cx="3549015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7494" y="9178927"/>
            <a:ext cx="3549015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50A-1259-1E48-BDE6-16DFA27BFE79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71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28925" y="3651250"/>
            <a:ext cx="174879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31175" y="3651250"/>
            <a:ext cx="174879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50A-1259-1E48-BDE6-16DFA27BFE79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56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4" y="730251"/>
            <a:ext cx="3549015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4286" y="3362326"/>
            <a:ext cx="17407531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34286" y="5010150"/>
            <a:ext cx="17407531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831175" y="3362326"/>
            <a:ext cx="17493260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831175" y="5010150"/>
            <a:ext cx="17493260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50A-1259-1E48-BDE6-16DFA27BFE79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666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50A-1259-1E48-BDE6-16DFA27BFE79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64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50A-1259-1E48-BDE6-16DFA27BFE79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58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6" y="914400"/>
            <a:ext cx="13271300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93259" y="1974851"/>
            <a:ext cx="20831175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86" y="4114800"/>
            <a:ext cx="13271300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50A-1259-1E48-BDE6-16DFA27BFE79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50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6" y="914400"/>
            <a:ext cx="13271300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493259" y="1974851"/>
            <a:ext cx="20831175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86" y="4114800"/>
            <a:ext cx="13271300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50A-1259-1E48-BDE6-16DFA27BFE79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276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50A-1259-1E48-BDE6-16DFA27BFE79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76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446537" y="730250"/>
            <a:ext cx="8872538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28925" y="730250"/>
            <a:ext cx="26103263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50A-1259-1E48-BDE6-16DFA27BFE79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90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28925" y="730251"/>
            <a:ext cx="3549015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8925" y="3651250"/>
            <a:ext cx="3549015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28925" y="12712701"/>
            <a:ext cx="92583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90150A-1259-1E48-BDE6-16DFA27BFE79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30275" y="12712701"/>
            <a:ext cx="1388745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060775" y="12712701"/>
            <a:ext cx="92583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369EB0-B879-0A45-8CC8-74C926EF3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07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50">
            <a:extLst>
              <a:ext uri="{FF2B5EF4-FFF2-40B4-BE49-F238E27FC236}">
                <a16:creationId xmlns:a16="http://schemas.microsoft.com/office/drawing/2014/main" id="{414A3C74-3101-C94A-8E95-716124100D0F}"/>
              </a:ext>
            </a:extLst>
          </p:cNvPr>
          <p:cNvSpPr/>
          <p:nvPr/>
        </p:nvSpPr>
        <p:spPr>
          <a:xfrm>
            <a:off x="21789600" y="600740"/>
            <a:ext cx="17988847" cy="5449575"/>
          </a:xfrm>
          <a:prstGeom prst="rect">
            <a:avLst/>
          </a:prstGeom>
          <a:solidFill>
            <a:srgbClr val="97B6B1">
              <a:alpha val="49804"/>
            </a:srgb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768AD562-9EA1-4F25-A664-79FCD28B6D45}"/>
              </a:ext>
            </a:extLst>
          </p:cNvPr>
          <p:cNvSpPr/>
          <p:nvPr/>
        </p:nvSpPr>
        <p:spPr>
          <a:xfrm>
            <a:off x="11264140" y="7438878"/>
            <a:ext cx="7758753" cy="5203939"/>
          </a:xfrm>
          <a:prstGeom prst="roundRect">
            <a:avLst/>
          </a:prstGeom>
          <a:solidFill>
            <a:srgbClr val="507F9F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FDAF9FB-9333-9763-06EC-12A16E426BF2}"/>
              </a:ext>
            </a:extLst>
          </p:cNvPr>
          <p:cNvSpPr/>
          <p:nvPr/>
        </p:nvSpPr>
        <p:spPr>
          <a:xfrm>
            <a:off x="11970605" y="8864985"/>
            <a:ext cx="3172910" cy="133948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Star Spectrum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A5C9657-EB97-0691-EBC4-C49AD39ABDDB}"/>
              </a:ext>
            </a:extLst>
          </p:cNvPr>
          <p:cNvSpPr/>
          <p:nvPr/>
        </p:nvSpPr>
        <p:spPr>
          <a:xfrm>
            <a:off x="15407621" y="8749262"/>
            <a:ext cx="3280939" cy="16349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Geometric Albedo Spectra</a:t>
            </a:r>
          </a:p>
        </p:txBody>
      </p: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C831653B-784B-1F41-2512-71CDD4FF3D8F}"/>
              </a:ext>
            </a:extLst>
          </p:cNvPr>
          <p:cNvCxnSpPr>
            <a:cxnSpLocks/>
            <a:stCxn id="3" idx="4"/>
            <a:endCxn id="113" idx="0"/>
          </p:cNvCxnSpPr>
          <p:nvPr/>
        </p:nvCxnSpPr>
        <p:spPr>
          <a:xfrm>
            <a:off x="13384372" y="3642431"/>
            <a:ext cx="172688" cy="5222554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ectangle 118">
            <a:extLst>
              <a:ext uri="{FF2B5EF4-FFF2-40B4-BE49-F238E27FC236}">
                <a16:creationId xmlns:a16="http://schemas.microsoft.com/office/drawing/2014/main" id="{C7C3B697-E564-BBC4-45C1-2A9553D318C1}"/>
              </a:ext>
            </a:extLst>
          </p:cNvPr>
          <p:cNvSpPr/>
          <p:nvPr/>
        </p:nvSpPr>
        <p:spPr>
          <a:xfrm>
            <a:off x="11923045" y="10633448"/>
            <a:ext cx="3280939" cy="16349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Fp</a:t>
            </a:r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/Fs Contrast Spectra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806EC86-0DE6-2BD3-465F-1A5EE30AB3AE}"/>
              </a:ext>
            </a:extLst>
          </p:cNvPr>
          <p:cNvSpPr/>
          <p:nvPr/>
        </p:nvSpPr>
        <p:spPr>
          <a:xfrm>
            <a:off x="15326851" y="10640378"/>
            <a:ext cx="3280939" cy="16349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Planet Spectra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C20E7BB-1C03-DA8C-E232-E983BB469C01}"/>
              </a:ext>
            </a:extLst>
          </p:cNvPr>
          <p:cNvSpPr/>
          <p:nvPr/>
        </p:nvSpPr>
        <p:spPr>
          <a:xfrm>
            <a:off x="20513918" y="7271444"/>
            <a:ext cx="14038695" cy="5449575"/>
          </a:xfrm>
          <a:prstGeom prst="rect">
            <a:avLst/>
          </a:prstGeom>
          <a:solidFill>
            <a:srgbClr val="D5734A">
              <a:alpha val="23922"/>
            </a:srgb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0D62F7B-9CD1-6C91-4D48-F854B9D14A3A}"/>
              </a:ext>
            </a:extLst>
          </p:cNvPr>
          <p:cNvCxnSpPr>
            <a:cxnSpLocks/>
            <a:stCxn id="3" idx="6"/>
            <a:endCxn id="53" idx="2"/>
          </p:cNvCxnSpPr>
          <p:nvPr/>
        </p:nvCxnSpPr>
        <p:spPr>
          <a:xfrm>
            <a:off x="15707814" y="2269823"/>
            <a:ext cx="6762326" cy="595186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2F485284-2CA7-6C85-899B-E1545F956907}"/>
              </a:ext>
            </a:extLst>
          </p:cNvPr>
          <p:cNvGrpSpPr/>
          <p:nvPr/>
        </p:nvGrpSpPr>
        <p:grpSpPr>
          <a:xfrm>
            <a:off x="512748" y="481848"/>
            <a:ext cx="9407522" cy="12752303"/>
            <a:chOff x="3442447" y="161364"/>
            <a:chExt cx="4883972" cy="6620435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14B7B2E6-0CC7-43E2-1330-254537E38835}"/>
                </a:ext>
              </a:extLst>
            </p:cNvPr>
            <p:cNvSpPr/>
            <p:nvPr/>
          </p:nvSpPr>
          <p:spPr>
            <a:xfrm>
              <a:off x="3442447" y="161364"/>
              <a:ext cx="4883972" cy="6620435"/>
            </a:xfrm>
            <a:prstGeom prst="roundRect">
              <a:avLst/>
            </a:prstGeom>
            <a:solidFill>
              <a:srgbClr val="507F9F">
                <a:alpha val="5098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8495CE7E-CFFB-BB1A-EBF1-9248837A8A26}"/>
                </a:ext>
              </a:extLst>
            </p:cNvPr>
            <p:cNvSpPr/>
            <p:nvPr/>
          </p:nvSpPr>
          <p:spPr>
            <a:xfrm>
              <a:off x="3905026" y="821619"/>
              <a:ext cx="1982994" cy="2015585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ubano" pitchFamily="2" charset="0"/>
                </a:rPr>
                <a:t>Planet: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Mass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Radius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[M/H]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C/O</a:t>
              </a:r>
            </a:p>
            <a:p>
              <a:pPr algn="ctr"/>
              <a:r>
                <a:rPr lang="en-US" sz="3600" dirty="0" err="1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T</a:t>
              </a:r>
              <a:r>
                <a:rPr lang="en-US" sz="3600" baseline="-25000" dirty="0" err="1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eq</a:t>
              </a:r>
              <a:endParaRPr lang="en-US" sz="3600" baseline="-25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endParaRP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Phase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3101A4BE-DE82-C48B-4A0F-B6029ACE4810}"/>
                </a:ext>
              </a:extLst>
            </p:cNvPr>
            <p:cNvSpPr/>
            <p:nvPr/>
          </p:nvSpPr>
          <p:spPr>
            <a:xfrm>
              <a:off x="6096000" y="821619"/>
              <a:ext cx="1982993" cy="201558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ubano" pitchFamily="2" charset="0"/>
                </a:rPr>
                <a:t>Star: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T</a:t>
              </a:r>
              <a:r>
                <a:rPr lang="en-US" sz="3600" baseline="-250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eff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Mass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Radius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[M/H]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Log(g)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98C17BD-2B56-5FE8-3565-475B424E0D88}"/>
                </a:ext>
              </a:extLst>
            </p:cNvPr>
            <p:cNvSpPr/>
            <p:nvPr/>
          </p:nvSpPr>
          <p:spPr>
            <a:xfrm>
              <a:off x="4587189" y="267223"/>
              <a:ext cx="2773784" cy="425303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ubano" pitchFamily="2" charset="0"/>
                </a:rPr>
                <a:t>inputs</a:t>
              </a:r>
              <a:endParaRPr lang="en-US" sz="4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0664C888-06AA-FC89-07C9-EA6B89D91E1B}"/>
                </a:ext>
              </a:extLst>
            </p:cNvPr>
            <p:cNvSpPr/>
            <p:nvPr/>
          </p:nvSpPr>
          <p:spPr>
            <a:xfrm>
              <a:off x="3784002" y="2966296"/>
              <a:ext cx="4294991" cy="259630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ubano" pitchFamily="2" charset="0"/>
                </a:rPr>
                <a:t>Climate calculation settings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K-coefficient opacities (Marley et al. 2021)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Atm pressure: (10</a:t>
              </a:r>
              <a:r>
                <a:rPr lang="en-US" sz="3600" baseline="300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2.5</a:t>
              </a:r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 – 10</a:t>
              </a:r>
              <a:r>
                <a:rPr lang="en-US" sz="3600" baseline="300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-6</a:t>
              </a:r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 Bars)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N Atm Levels: 91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N initial Conv Zones: 1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Initial Interior Temp: 100 K</a:t>
              </a:r>
            </a:p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Stellar contribution factor: 0.5</a:t>
              </a:r>
            </a:p>
            <a:p>
              <a:pPr algn="ctr"/>
              <a:endParaRPr lang="en-US" sz="3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F1DB4515-B6B2-B595-EC40-DEDB97A97E1D}"/>
              </a:ext>
            </a:extLst>
          </p:cNvPr>
          <p:cNvSpPr/>
          <p:nvPr/>
        </p:nvSpPr>
        <p:spPr>
          <a:xfrm>
            <a:off x="11060929" y="897215"/>
            <a:ext cx="4646885" cy="274521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Grab Phoenix Spectrum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96B371-E8EF-504B-E5B7-90435B1A730D}"/>
              </a:ext>
            </a:extLst>
          </p:cNvPr>
          <p:cNvCxnSpPr>
            <a:cxnSpLocks/>
            <a:stCxn id="6" idx="3"/>
            <a:endCxn id="3" idx="2"/>
          </p:cNvCxnSpPr>
          <p:nvPr/>
        </p:nvCxnSpPr>
        <p:spPr>
          <a:xfrm flipV="1">
            <a:off x="9443677" y="2269823"/>
            <a:ext cx="1617252" cy="1425022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79528EAB-D62C-8CC8-8DCB-487CCB44037A}"/>
              </a:ext>
            </a:extLst>
          </p:cNvPr>
          <p:cNvSpPr/>
          <p:nvPr/>
        </p:nvSpPr>
        <p:spPr>
          <a:xfrm>
            <a:off x="15803636" y="1523412"/>
            <a:ext cx="5603502" cy="451485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Compute initial P(T) guess</a:t>
            </a:r>
          </a:p>
          <a:p>
            <a:pPr algn="ctr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(Guillot et al. 2010 </a:t>
            </a:r>
            <a:r>
              <a:rPr lang="en-US" sz="3600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eqn</a:t>
            </a:r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 29)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6BFB7D4-1814-ABA3-74D9-61F0D06D4D95}"/>
              </a:ext>
            </a:extLst>
          </p:cNvPr>
          <p:cNvCxnSpPr>
            <a:cxnSpLocks/>
            <a:stCxn id="9" idx="3"/>
            <a:endCxn id="13" idx="2"/>
          </p:cNvCxnSpPr>
          <p:nvPr/>
        </p:nvCxnSpPr>
        <p:spPr>
          <a:xfrm flipV="1">
            <a:off x="9920270" y="3780837"/>
            <a:ext cx="5883366" cy="3077163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BE4A39-27A5-AAF3-AAF1-1E93B5B53B40}"/>
              </a:ext>
            </a:extLst>
          </p:cNvPr>
          <p:cNvCxnSpPr>
            <a:cxnSpLocks/>
            <a:stCxn id="13" idx="6"/>
            <a:endCxn id="53" idx="2"/>
          </p:cNvCxnSpPr>
          <p:nvPr/>
        </p:nvCxnSpPr>
        <p:spPr>
          <a:xfrm flipV="1">
            <a:off x="21407138" y="2865009"/>
            <a:ext cx="1063002" cy="915828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B55E0A7-FFBF-69D4-B2C0-740539BC0E82}"/>
              </a:ext>
            </a:extLst>
          </p:cNvPr>
          <p:cNvCxnSpPr>
            <a:cxnSpLocks/>
          </p:cNvCxnSpPr>
          <p:nvPr/>
        </p:nvCxnSpPr>
        <p:spPr>
          <a:xfrm>
            <a:off x="28707000" y="2922930"/>
            <a:ext cx="1378024" cy="508002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Snip Same Side Corner Rectangle 52">
            <a:extLst>
              <a:ext uri="{FF2B5EF4-FFF2-40B4-BE49-F238E27FC236}">
                <a16:creationId xmlns:a16="http://schemas.microsoft.com/office/drawing/2014/main" id="{509D9AE6-7902-CE47-DA13-0A9A49FD0998}"/>
              </a:ext>
            </a:extLst>
          </p:cNvPr>
          <p:cNvSpPr/>
          <p:nvPr/>
        </p:nvSpPr>
        <p:spPr>
          <a:xfrm>
            <a:off x="22470140" y="1047633"/>
            <a:ext cx="6236860" cy="3634751"/>
          </a:xfrm>
          <a:prstGeom prst="snip2Same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PICASO iteratively converges to a solution of the radiative transfer equation for radiative/convective equilibrium</a:t>
            </a:r>
          </a:p>
          <a:p>
            <a:pPr algn="ctr"/>
            <a:endParaRPr lang="en-US" sz="4050" dirty="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1BA31F0-527D-E4C6-6356-1C8474381D06}"/>
              </a:ext>
            </a:extLst>
          </p:cNvPr>
          <p:cNvGrpSpPr/>
          <p:nvPr/>
        </p:nvGrpSpPr>
        <p:grpSpPr>
          <a:xfrm>
            <a:off x="30085024" y="1097195"/>
            <a:ext cx="9407523" cy="4542684"/>
            <a:chOff x="2356509" y="4459632"/>
            <a:chExt cx="4181121" cy="2523852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78BD132-D845-3C2F-8309-A4656BC7DE39}"/>
                </a:ext>
              </a:extLst>
            </p:cNvPr>
            <p:cNvSpPr/>
            <p:nvPr/>
          </p:nvSpPr>
          <p:spPr>
            <a:xfrm>
              <a:off x="2546403" y="5139163"/>
              <a:ext cx="1757214" cy="74982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P(T) profile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C863DB7-96F8-B7CF-C377-26F4CC7530DA}"/>
                </a:ext>
              </a:extLst>
            </p:cNvPr>
            <p:cNvSpPr/>
            <p:nvPr/>
          </p:nvSpPr>
          <p:spPr>
            <a:xfrm>
              <a:off x="3011185" y="4562638"/>
              <a:ext cx="3141755" cy="41949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ubano" pitchFamily="2" charset="0"/>
                </a:rPr>
                <a:t>outputs</a:t>
              </a:r>
              <a:endParaRPr lang="en-US" sz="4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endParaRPr>
            </a:p>
          </p:txBody>
        </p:sp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C3731CD4-DF23-2881-C243-A1BEF8824DEA}"/>
                </a:ext>
              </a:extLst>
            </p:cNvPr>
            <p:cNvSpPr/>
            <p:nvPr/>
          </p:nvSpPr>
          <p:spPr>
            <a:xfrm>
              <a:off x="2356509" y="4459632"/>
              <a:ext cx="4181121" cy="252385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EB36439-1186-3F50-9ED4-B510FD12714F}"/>
                </a:ext>
              </a:extLst>
            </p:cNvPr>
            <p:cNvSpPr/>
            <p:nvPr/>
          </p:nvSpPr>
          <p:spPr>
            <a:xfrm>
              <a:off x="4434150" y="5083619"/>
              <a:ext cx="2065282" cy="87289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Chemical structure (mol abundances)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B72F8DC-F85A-7AD2-8BF9-A53B37D45A80}"/>
                </a:ext>
              </a:extLst>
            </p:cNvPr>
            <p:cNvSpPr/>
            <p:nvPr/>
          </p:nvSpPr>
          <p:spPr>
            <a:xfrm>
              <a:off x="3211981" y="6087714"/>
              <a:ext cx="2535385" cy="74982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" pitchFamily="2" charset="77"/>
                </a:rPr>
                <a:t>Energy transport in atm</a:t>
              </a:r>
            </a:p>
          </p:txBody>
        </p:sp>
      </p:grpSp>
      <p:sp>
        <p:nvSpPr>
          <p:cNvPr id="76" name="Snip Same Side Corner Rectangle 75">
            <a:extLst>
              <a:ext uri="{FF2B5EF4-FFF2-40B4-BE49-F238E27FC236}">
                <a16:creationId xmlns:a16="http://schemas.microsoft.com/office/drawing/2014/main" id="{7DC025A7-B250-AFDC-5690-AEBCD35F9D3A}"/>
              </a:ext>
            </a:extLst>
          </p:cNvPr>
          <p:cNvSpPr/>
          <p:nvPr/>
        </p:nvSpPr>
        <p:spPr>
          <a:xfrm>
            <a:off x="28243186" y="8013419"/>
            <a:ext cx="5848923" cy="4074647"/>
          </a:xfrm>
          <a:prstGeom prst="snip2Same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PICASO computes cloud-free reflected light albedo and contrast spectra</a:t>
            </a:r>
          </a:p>
          <a:p>
            <a:pPr algn="ctr"/>
            <a:endParaRPr lang="en-US" sz="3600" dirty="0"/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ABE19F60-AA7D-FD2A-CAFA-61AF61A40A41}"/>
              </a:ext>
            </a:extLst>
          </p:cNvPr>
          <p:cNvSpPr/>
          <p:nvPr/>
        </p:nvSpPr>
        <p:spPr>
          <a:xfrm>
            <a:off x="1056537" y="11066069"/>
            <a:ext cx="8354760" cy="157965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Cloud parameters: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Sedimentation Efficiency </a:t>
            </a:r>
            <a:r>
              <a:rPr lang="en-US" sz="3600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f_sed</a:t>
            </a:r>
            <a:endParaRPr lang="en-US" sz="36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Vertical mixing strength </a:t>
            </a:r>
            <a:r>
              <a:rPr lang="en-US" sz="3600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Kzz</a:t>
            </a:r>
            <a:endParaRPr lang="en-US" sz="36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DFAC9682-19CA-703C-74A7-7AC06800DE92}"/>
              </a:ext>
            </a:extLst>
          </p:cNvPr>
          <p:cNvSpPr/>
          <p:nvPr/>
        </p:nvSpPr>
        <p:spPr>
          <a:xfrm>
            <a:off x="35069106" y="6597479"/>
            <a:ext cx="4181432" cy="370709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Grab cloud profile from VIRGA</a:t>
            </a:r>
          </a:p>
        </p:txBody>
      </p:sp>
      <p:sp>
        <p:nvSpPr>
          <p:cNvPr id="104" name="Snip Same Side Corner Rectangle 103">
            <a:extLst>
              <a:ext uri="{FF2B5EF4-FFF2-40B4-BE49-F238E27FC236}">
                <a16:creationId xmlns:a16="http://schemas.microsoft.com/office/drawing/2014/main" id="{FEC95872-7316-9B7D-38D4-604473451EB1}"/>
              </a:ext>
            </a:extLst>
          </p:cNvPr>
          <p:cNvSpPr/>
          <p:nvPr/>
        </p:nvSpPr>
        <p:spPr>
          <a:xfrm>
            <a:off x="21237215" y="8013418"/>
            <a:ext cx="5848923" cy="4074647"/>
          </a:xfrm>
          <a:prstGeom prst="snip2Same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PICASO computes cloudy reflected light albedo and contrast spectra</a:t>
            </a:r>
          </a:p>
          <a:p>
            <a:pPr algn="ctr"/>
            <a:endParaRPr lang="en-US" sz="36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36F82C9-C9D4-28D1-8AF1-DB924EF0F5E4}"/>
              </a:ext>
            </a:extLst>
          </p:cNvPr>
          <p:cNvSpPr txBox="1"/>
          <p:nvPr/>
        </p:nvSpPr>
        <p:spPr>
          <a:xfrm>
            <a:off x="21755383" y="4778738"/>
            <a:ext cx="7935121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50" dirty="0"/>
              <a:t>See Mukherjee et al. 2022 Fig1 for</a:t>
            </a:r>
          </a:p>
          <a:p>
            <a:pPr algn="ctr"/>
            <a:r>
              <a:rPr lang="en-US" sz="4050" dirty="0"/>
              <a:t>Climate solving diagram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A64F9232-1C2E-3081-BC46-4329E8CB1648}"/>
              </a:ext>
            </a:extLst>
          </p:cNvPr>
          <p:cNvSpPr/>
          <p:nvPr/>
        </p:nvSpPr>
        <p:spPr>
          <a:xfrm>
            <a:off x="26588343" y="129984"/>
            <a:ext cx="9158608" cy="72579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Climate calculation step</a:t>
            </a:r>
            <a:endParaRPr lang="en-US" sz="4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cxnSp>
        <p:nvCxnSpPr>
          <p:cNvPr id="193" name="Elbow Connector 192">
            <a:extLst>
              <a:ext uri="{FF2B5EF4-FFF2-40B4-BE49-F238E27FC236}">
                <a16:creationId xmlns:a16="http://schemas.microsoft.com/office/drawing/2014/main" id="{04E0848E-FBA3-B6B7-E308-097B48DB9DCC}"/>
              </a:ext>
            </a:extLst>
          </p:cNvPr>
          <p:cNvCxnSpPr>
            <a:cxnSpLocks/>
            <a:stCxn id="82" idx="2"/>
            <a:endCxn id="87" idx="4"/>
          </p:cNvCxnSpPr>
          <p:nvPr/>
        </p:nvCxnSpPr>
        <p:spPr>
          <a:xfrm rot="5400000" flipH="1" flipV="1">
            <a:off x="20026294" y="-4487803"/>
            <a:ext cx="2341150" cy="31925905"/>
          </a:xfrm>
          <a:prstGeom prst="bentConnector3">
            <a:avLst>
              <a:gd name="adj1" fmla="val -17153"/>
            </a:avLst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Elbow Connector 199">
            <a:extLst>
              <a:ext uri="{FF2B5EF4-FFF2-40B4-BE49-F238E27FC236}">
                <a16:creationId xmlns:a16="http://schemas.microsoft.com/office/drawing/2014/main" id="{5857B0F2-A4EF-2904-9898-23C36C544F1F}"/>
              </a:ext>
            </a:extLst>
          </p:cNvPr>
          <p:cNvCxnSpPr>
            <a:cxnSpLocks/>
            <a:stCxn id="66" idx="3"/>
            <a:endCxn id="87" idx="6"/>
          </p:cNvCxnSpPr>
          <p:nvPr/>
        </p:nvCxnSpPr>
        <p:spPr>
          <a:xfrm flipH="1">
            <a:off x="39250538" y="3368537"/>
            <a:ext cx="242009" cy="5082490"/>
          </a:xfrm>
          <a:prstGeom prst="bentConnector3">
            <a:avLst>
              <a:gd name="adj1" fmla="val -319119"/>
            </a:avLst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Elbow Connector 208">
            <a:extLst>
              <a:ext uri="{FF2B5EF4-FFF2-40B4-BE49-F238E27FC236}">
                <a16:creationId xmlns:a16="http://schemas.microsoft.com/office/drawing/2014/main" id="{1511BCD8-CE29-5F7C-86A1-7227FAAB0FB7}"/>
              </a:ext>
            </a:extLst>
          </p:cNvPr>
          <p:cNvCxnSpPr>
            <a:cxnSpLocks/>
            <a:stCxn id="66" idx="2"/>
            <a:endCxn id="76" idx="0"/>
          </p:cNvCxnSpPr>
          <p:nvPr/>
        </p:nvCxnSpPr>
        <p:spPr>
          <a:xfrm rot="5400000">
            <a:off x="32235016" y="7496973"/>
            <a:ext cx="4410864" cy="696677"/>
          </a:xfrm>
          <a:prstGeom prst="bentConnector2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Rectangle 223">
            <a:extLst>
              <a:ext uri="{FF2B5EF4-FFF2-40B4-BE49-F238E27FC236}">
                <a16:creationId xmlns:a16="http://schemas.microsoft.com/office/drawing/2014/main" id="{1F47D4F1-9BFF-2D16-2511-505BC5183128}"/>
              </a:ext>
            </a:extLst>
          </p:cNvPr>
          <p:cNvSpPr/>
          <p:nvPr/>
        </p:nvSpPr>
        <p:spPr>
          <a:xfrm>
            <a:off x="22152193" y="6436968"/>
            <a:ext cx="11024937" cy="149477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Post-process and </a:t>
            </a:r>
          </a:p>
          <a:p>
            <a:pPr algn="ctr"/>
            <a:r>
              <a:rPr lang="en-US" sz="5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Spectrum computation step</a:t>
            </a:r>
            <a:endParaRPr lang="en-US" sz="4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BE86166F-A696-10D2-B418-A4E86A769348}"/>
              </a:ext>
            </a:extLst>
          </p:cNvPr>
          <p:cNvSpPr txBox="1"/>
          <p:nvPr/>
        </p:nvSpPr>
        <p:spPr>
          <a:xfrm>
            <a:off x="37012473" y="10524765"/>
            <a:ext cx="41355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See Batalha et al. 2025 for</a:t>
            </a:r>
          </a:p>
          <a:p>
            <a:pPr algn="ctr"/>
            <a:r>
              <a:rPr lang="en-US" sz="3600" dirty="0"/>
              <a:t>how Virga computes cloud profile</a:t>
            </a:r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E89BDFA3-5591-EBEE-0B03-132E080DABBA}"/>
              </a:ext>
            </a:extLst>
          </p:cNvPr>
          <p:cNvCxnSpPr>
            <a:cxnSpLocks/>
            <a:stCxn id="104" idx="2"/>
            <a:endCxn id="115" idx="3"/>
          </p:cNvCxnSpPr>
          <p:nvPr/>
        </p:nvCxnSpPr>
        <p:spPr>
          <a:xfrm flipH="1" flipV="1">
            <a:off x="19022893" y="10040848"/>
            <a:ext cx="2214322" cy="9894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Elbow Connector 237">
            <a:extLst>
              <a:ext uri="{FF2B5EF4-FFF2-40B4-BE49-F238E27FC236}">
                <a16:creationId xmlns:a16="http://schemas.microsoft.com/office/drawing/2014/main" id="{A15E88A5-E3CF-2D6E-D7CC-C093A3FA5F83}"/>
              </a:ext>
            </a:extLst>
          </p:cNvPr>
          <p:cNvCxnSpPr>
            <a:cxnSpLocks/>
            <a:stCxn id="76" idx="1"/>
            <a:endCxn id="115" idx="3"/>
          </p:cNvCxnSpPr>
          <p:nvPr/>
        </p:nvCxnSpPr>
        <p:spPr>
          <a:xfrm rot="5400000" flipH="1">
            <a:off x="24071662" y="4992080"/>
            <a:ext cx="2047218" cy="12144755"/>
          </a:xfrm>
          <a:prstGeom prst="bentConnector4">
            <a:avLst>
              <a:gd name="adj1" fmla="val -11166"/>
              <a:gd name="adj2" fmla="val 92157"/>
            </a:avLst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3A07BBD-16C9-25E9-A726-DC910321AB2C}"/>
              </a:ext>
            </a:extLst>
          </p:cNvPr>
          <p:cNvSpPr/>
          <p:nvPr/>
        </p:nvSpPr>
        <p:spPr>
          <a:xfrm>
            <a:off x="12318166" y="7691270"/>
            <a:ext cx="5896435" cy="759757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Final output</a:t>
            </a:r>
            <a:endParaRPr lang="en-US" sz="4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cxnSp>
        <p:nvCxnSpPr>
          <p:cNvPr id="266" name="Elbow Connector 265">
            <a:extLst>
              <a:ext uri="{FF2B5EF4-FFF2-40B4-BE49-F238E27FC236}">
                <a16:creationId xmlns:a16="http://schemas.microsoft.com/office/drawing/2014/main" id="{0CA269E4-E154-3CC8-9195-9EB4C8C8E548}"/>
              </a:ext>
            </a:extLst>
          </p:cNvPr>
          <p:cNvCxnSpPr>
            <a:cxnSpLocks/>
            <a:endCxn id="104" idx="1"/>
          </p:cNvCxnSpPr>
          <p:nvPr/>
        </p:nvCxnSpPr>
        <p:spPr>
          <a:xfrm rot="10800000" flipV="1">
            <a:off x="24161677" y="9741321"/>
            <a:ext cx="11585274" cy="2346744"/>
          </a:xfrm>
          <a:prstGeom prst="bentConnector4">
            <a:avLst>
              <a:gd name="adj1" fmla="val 48"/>
              <a:gd name="adj2" fmla="val 152918"/>
            </a:avLst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DC41AC29-64F2-0CB1-FAB0-5ED859D57B0E}"/>
              </a:ext>
            </a:extLst>
          </p:cNvPr>
          <p:cNvCxnSpPr>
            <a:stCxn id="76" idx="2"/>
          </p:cNvCxnSpPr>
          <p:nvPr/>
        </p:nvCxnSpPr>
        <p:spPr>
          <a:xfrm flipH="1" flipV="1">
            <a:off x="27086138" y="10050741"/>
            <a:ext cx="1157048" cy="2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865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30091</TotalTime>
  <Words>203</Words>
  <Application>Microsoft Macintosh PowerPoint</Application>
  <PresentationFormat>Custom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Cubano</vt:lpstr>
      <vt:lpstr>Montserrat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Pearce, Logan</dc:creator>
  <cp:lastModifiedBy>Pearce, Logan</cp:lastModifiedBy>
  <cp:revision>13</cp:revision>
  <dcterms:created xsi:type="dcterms:W3CDTF">2026-01-26T15:34:25Z</dcterms:created>
  <dcterms:modified xsi:type="dcterms:W3CDTF">2026-02-16T13:07:41Z</dcterms:modified>
</cp:coreProperties>
</file>