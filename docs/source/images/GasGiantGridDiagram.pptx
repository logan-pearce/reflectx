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96" r:id="rId1"/>
  </p:sldMasterIdLst>
  <p:sldIdLst>
    <p:sldId id="256" r:id="rId2"/>
  </p:sldIdLst>
  <p:sldSz cx="12192000" cy="20116800"/>
  <p:notesSz cx="6858000" cy="9144000"/>
  <p:embeddedFontLst>
    <p:embeddedFont>
      <p:font typeface="Cubano" pitchFamily="2" charset="0"/>
      <p:regular r:id="rId3"/>
    </p:embeddedFont>
    <p:embeddedFont>
      <p:font typeface="Montserrat" pitchFamily="2" charset="77"/>
      <p:regular r:id="rId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7"/>
    <p:restoredTop sz="94830"/>
  </p:normalViewPr>
  <p:slideViewPr>
    <p:cSldViewPr snapToGrid="0">
      <p:cViewPr>
        <p:scale>
          <a:sx n="40" d="100"/>
          <a:sy n="40" d="100"/>
        </p:scale>
        <p:origin x="4136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292265"/>
            <a:ext cx="10363200" cy="700362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0565978"/>
            <a:ext cx="9144000" cy="4856902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132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4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5015236"/>
            <a:ext cx="10515600" cy="836802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3462429"/>
            <a:ext cx="10515600" cy="44005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15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5355167"/>
            <a:ext cx="5181600" cy="12763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5355167"/>
            <a:ext cx="5181600" cy="12763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9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71038"/>
            <a:ext cx="10515600" cy="38883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4931411"/>
            <a:ext cx="5157787" cy="241680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7348220"/>
            <a:ext cx="5157787" cy="1080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4931411"/>
            <a:ext cx="5183188" cy="241680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7348220"/>
            <a:ext cx="5183188" cy="1080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621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61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7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41120"/>
            <a:ext cx="3932237" cy="469392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896451"/>
            <a:ext cx="6172200" cy="142959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6035040"/>
            <a:ext cx="3932237" cy="1118065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42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41120"/>
            <a:ext cx="3932237" cy="469392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896451"/>
            <a:ext cx="6172200" cy="142959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6035040"/>
            <a:ext cx="3932237" cy="1118065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56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177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071033"/>
            <a:ext cx="2628900" cy="1704805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071033"/>
            <a:ext cx="7734300" cy="1704805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38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071038"/>
            <a:ext cx="10515600" cy="3888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355167"/>
            <a:ext cx="10515600" cy="12763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8645298"/>
            <a:ext cx="2743200" cy="1071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942819-11AB-1648-BCC9-D8D9EF54700A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8645298"/>
            <a:ext cx="4114800" cy="1071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8645298"/>
            <a:ext cx="2743200" cy="1071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7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0B93FED-CBB7-9F35-50CB-3B2598115A6E}"/>
              </a:ext>
            </a:extLst>
          </p:cNvPr>
          <p:cNvSpPr/>
          <p:nvPr/>
        </p:nvSpPr>
        <p:spPr>
          <a:xfrm>
            <a:off x="912628" y="1300212"/>
            <a:ext cx="1974112" cy="153813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Teff = 3000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0.16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0.2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Logg = 5.0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1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674C4DD-4F17-8998-E03C-531EBD29ED8B}"/>
              </a:ext>
            </a:extLst>
          </p:cNvPr>
          <p:cNvSpPr/>
          <p:nvPr/>
        </p:nvSpPr>
        <p:spPr>
          <a:xfrm>
            <a:off x="3010786" y="1300212"/>
            <a:ext cx="1974112" cy="153813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Teff = 3500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0.44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0.45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Logg = 4.8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88A701E-EB2B-0DEC-D3C4-29E4E1061391}"/>
              </a:ext>
            </a:extLst>
          </p:cNvPr>
          <p:cNvSpPr/>
          <p:nvPr/>
        </p:nvSpPr>
        <p:spPr>
          <a:xfrm>
            <a:off x="5108944" y="1300211"/>
            <a:ext cx="1974112" cy="154833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Teff = 4000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0.64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0.63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Logg = 4.6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ED0D132-6AC6-F248-BA51-FEBB0D8EACA5}"/>
              </a:ext>
            </a:extLst>
          </p:cNvPr>
          <p:cNvSpPr/>
          <p:nvPr/>
        </p:nvSpPr>
        <p:spPr>
          <a:xfrm>
            <a:off x="7207102" y="1300210"/>
            <a:ext cx="1974112" cy="154833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Teff = 5000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0.8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0.8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Logg = 4.5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081DCBF-16C3-1B1F-DF78-9E938744E4C2}"/>
              </a:ext>
            </a:extLst>
          </p:cNvPr>
          <p:cNvSpPr/>
          <p:nvPr/>
        </p:nvSpPr>
        <p:spPr>
          <a:xfrm>
            <a:off x="9305260" y="1300209"/>
            <a:ext cx="1974112" cy="154833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Teff = 7000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1.5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1.7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Logg = 4.2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3D841A-FB94-35C5-CDEA-C108403E1AF0}"/>
              </a:ext>
            </a:extLst>
          </p:cNvPr>
          <p:cNvSpPr/>
          <p:nvPr/>
        </p:nvSpPr>
        <p:spPr>
          <a:xfrm>
            <a:off x="912628" y="807160"/>
            <a:ext cx="10366744" cy="42530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Star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A03B1912-BDDF-C69E-AF7A-D7398E4D71BE}"/>
              </a:ext>
            </a:extLst>
          </p:cNvPr>
          <p:cNvSpPr/>
          <p:nvPr/>
        </p:nvSpPr>
        <p:spPr>
          <a:xfrm rot="16200000">
            <a:off x="6011827" y="-1299517"/>
            <a:ext cx="249865" cy="8681487"/>
          </a:xfrm>
          <a:prstGeom prst="leftBrac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CFFF3D-C5B2-6C6F-E44E-510DFCF0C1E3}"/>
              </a:ext>
            </a:extLst>
          </p:cNvPr>
          <p:cNvSpPr/>
          <p:nvPr/>
        </p:nvSpPr>
        <p:spPr>
          <a:xfrm>
            <a:off x="942753" y="3342152"/>
            <a:ext cx="10366744" cy="42530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Planet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6D2A122-3587-A22B-DD94-C61F5557012E}"/>
              </a:ext>
            </a:extLst>
          </p:cNvPr>
          <p:cNvSpPr/>
          <p:nvPr/>
        </p:nvSpPr>
        <p:spPr>
          <a:xfrm>
            <a:off x="2927497" y="3869572"/>
            <a:ext cx="2098158" cy="134178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SuperNeptune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0.09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0.54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50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9073638-C0E0-FA74-EBD2-84ABD823C9C4}"/>
              </a:ext>
            </a:extLst>
          </p:cNvPr>
          <p:cNvSpPr/>
          <p:nvPr/>
        </p:nvSpPr>
        <p:spPr>
          <a:xfrm>
            <a:off x="767316" y="3869571"/>
            <a:ext cx="2098158" cy="134178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Neptune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0.05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0.35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100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2DFA31C-8C87-0672-023B-F3D6C21E6810}"/>
              </a:ext>
            </a:extLst>
          </p:cNvPr>
          <p:cNvSpPr/>
          <p:nvPr/>
        </p:nvSpPr>
        <p:spPr>
          <a:xfrm>
            <a:off x="5087678" y="3886561"/>
            <a:ext cx="2098158" cy="134178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Saturn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0.3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0.8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10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F578E5F-170B-5520-26E7-72243583B12F}"/>
              </a:ext>
            </a:extLst>
          </p:cNvPr>
          <p:cNvSpPr/>
          <p:nvPr/>
        </p:nvSpPr>
        <p:spPr>
          <a:xfrm>
            <a:off x="7247859" y="3869571"/>
            <a:ext cx="2098158" cy="134178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Jupiter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1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1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3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DDF4904-30E2-49A5-C3A2-EA5C483219C5}"/>
              </a:ext>
            </a:extLst>
          </p:cNvPr>
          <p:cNvSpPr/>
          <p:nvPr/>
        </p:nvSpPr>
        <p:spPr>
          <a:xfrm>
            <a:off x="9408040" y="3886560"/>
            <a:ext cx="2098158" cy="134178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SuperJupiter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5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0.9</a:t>
            </a:r>
          </a:p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1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175F7324-F719-1E3C-133E-4A7F702A6179}"/>
              </a:ext>
            </a:extLst>
          </p:cNvPr>
          <p:cNvSpPr/>
          <p:nvPr/>
        </p:nvSpPr>
        <p:spPr>
          <a:xfrm rot="16200000">
            <a:off x="6001195" y="1224341"/>
            <a:ext cx="249865" cy="8681487"/>
          </a:xfrm>
          <a:prstGeom prst="leftBrac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5B7BAF-5AF6-BC84-002B-E42EC9A6F218}"/>
              </a:ext>
            </a:extLst>
          </p:cNvPr>
          <p:cNvSpPr/>
          <p:nvPr/>
        </p:nvSpPr>
        <p:spPr>
          <a:xfrm>
            <a:off x="953385" y="5842324"/>
            <a:ext cx="10366744" cy="42530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C/O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5C6B596-2C03-F117-35D3-6AEF4DDD1CA4}"/>
              </a:ext>
            </a:extLst>
          </p:cNvPr>
          <p:cNvSpPr/>
          <p:nvPr/>
        </p:nvSpPr>
        <p:spPr>
          <a:xfrm>
            <a:off x="2259419" y="6411077"/>
            <a:ext cx="2098158" cy="72582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0.5 Solar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20F7222-B0A0-BD1C-6761-010E54C1E986}"/>
              </a:ext>
            </a:extLst>
          </p:cNvPr>
          <p:cNvSpPr/>
          <p:nvPr/>
        </p:nvSpPr>
        <p:spPr>
          <a:xfrm>
            <a:off x="4984898" y="6411077"/>
            <a:ext cx="2098158" cy="72582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1.0 Solar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9AD7D84-E0EF-45A9-F15D-BDBC566075B2}"/>
              </a:ext>
            </a:extLst>
          </p:cNvPr>
          <p:cNvSpPr/>
          <p:nvPr/>
        </p:nvSpPr>
        <p:spPr>
          <a:xfrm>
            <a:off x="7710377" y="6410018"/>
            <a:ext cx="2098158" cy="72582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1.5 Solar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349BA3-3B39-83F6-0F8A-043EB5C6AD1C}"/>
              </a:ext>
            </a:extLst>
          </p:cNvPr>
          <p:cNvSpPr/>
          <p:nvPr/>
        </p:nvSpPr>
        <p:spPr>
          <a:xfrm>
            <a:off x="508594" y="494545"/>
            <a:ext cx="11174819" cy="6847366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12BA023-44A1-864C-2ACE-A08C03CFD107}"/>
              </a:ext>
            </a:extLst>
          </p:cNvPr>
          <p:cNvSpPr/>
          <p:nvPr/>
        </p:nvSpPr>
        <p:spPr>
          <a:xfrm>
            <a:off x="618461" y="286158"/>
            <a:ext cx="10955078" cy="42530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Model</a:t>
            </a:r>
            <a:endParaRPr lang="en-US" sz="2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C145EE6-5F29-422B-11F6-5F074F6A94E7}"/>
              </a:ext>
            </a:extLst>
          </p:cNvPr>
          <p:cNvSpPr/>
          <p:nvPr/>
        </p:nvSpPr>
        <p:spPr>
          <a:xfrm>
            <a:off x="618461" y="7786819"/>
            <a:ext cx="10955078" cy="42530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Each Model contains</a:t>
            </a:r>
            <a:endParaRPr lang="en-US" sz="2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98DE7CC-247E-0D89-313C-BD68DE6B3E03}"/>
              </a:ext>
            </a:extLst>
          </p:cNvPr>
          <p:cNvSpPr/>
          <p:nvPr/>
        </p:nvSpPr>
        <p:spPr>
          <a:xfrm>
            <a:off x="953385" y="8344969"/>
            <a:ext cx="10366744" cy="42530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Equil</a:t>
            </a:r>
            <a:r>
              <a:rPr lang="en-US" sz="2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 temp -&gt; sets separation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946B5EC1-8F22-59D2-2050-C43A06F32661}"/>
              </a:ext>
            </a:extLst>
          </p:cNvPr>
          <p:cNvSpPr/>
          <p:nvPr/>
        </p:nvSpPr>
        <p:spPr>
          <a:xfrm rot="16200000">
            <a:off x="5971069" y="5756793"/>
            <a:ext cx="249865" cy="8681487"/>
          </a:xfrm>
          <a:prstGeom prst="leftBrac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40E5382-1D37-7736-97F1-F48CACCB8E1B}"/>
              </a:ext>
            </a:extLst>
          </p:cNvPr>
          <p:cNvSpPr/>
          <p:nvPr/>
        </p:nvSpPr>
        <p:spPr>
          <a:xfrm>
            <a:off x="2708636" y="8842579"/>
            <a:ext cx="977308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100 K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961F978-11FE-C2A6-3533-A3FF4D935920}"/>
              </a:ext>
            </a:extLst>
          </p:cNvPr>
          <p:cNvSpPr/>
          <p:nvPr/>
        </p:nvSpPr>
        <p:spPr>
          <a:xfrm>
            <a:off x="1617911" y="8842579"/>
            <a:ext cx="977308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75 K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4ADCB85-E36D-B8FB-D3BB-53F19D0001BA}"/>
              </a:ext>
            </a:extLst>
          </p:cNvPr>
          <p:cNvSpPr/>
          <p:nvPr/>
        </p:nvSpPr>
        <p:spPr>
          <a:xfrm>
            <a:off x="3799361" y="8842579"/>
            <a:ext cx="977308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150 K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98D5080-7400-F103-3BB5-8506D649B152}"/>
              </a:ext>
            </a:extLst>
          </p:cNvPr>
          <p:cNvSpPr/>
          <p:nvPr/>
        </p:nvSpPr>
        <p:spPr>
          <a:xfrm>
            <a:off x="4910760" y="8842578"/>
            <a:ext cx="977308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180 K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AE20BE1-A0F0-BBE6-1D64-AACBC9018D19}"/>
              </a:ext>
            </a:extLst>
          </p:cNvPr>
          <p:cNvSpPr/>
          <p:nvPr/>
        </p:nvSpPr>
        <p:spPr>
          <a:xfrm>
            <a:off x="6001485" y="8842577"/>
            <a:ext cx="977308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200 K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BCF1BE14-7C48-F5EA-A9ED-E4397443F330}"/>
              </a:ext>
            </a:extLst>
          </p:cNvPr>
          <p:cNvSpPr/>
          <p:nvPr/>
        </p:nvSpPr>
        <p:spPr>
          <a:xfrm>
            <a:off x="7092210" y="8842576"/>
            <a:ext cx="977308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250 K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948ABA0-D1C0-9E46-03E4-B7CEA2EA8EF0}"/>
              </a:ext>
            </a:extLst>
          </p:cNvPr>
          <p:cNvSpPr/>
          <p:nvPr/>
        </p:nvSpPr>
        <p:spPr>
          <a:xfrm>
            <a:off x="8203609" y="8842575"/>
            <a:ext cx="977308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300 K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91C22F4-C15B-C9AC-E4C8-2D411E022BED}"/>
              </a:ext>
            </a:extLst>
          </p:cNvPr>
          <p:cNvSpPr/>
          <p:nvPr/>
        </p:nvSpPr>
        <p:spPr>
          <a:xfrm>
            <a:off x="9315008" y="8842575"/>
            <a:ext cx="977308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500 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D2228E1-B4BA-A21E-1ACC-33B54BDC4849}"/>
              </a:ext>
            </a:extLst>
          </p:cNvPr>
          <p:cNvSpPr/>
          <p:nvPr/>
        </p:nvSpPr>
        <p:spPr>
          <a:xfrm>
            <a:off x="976421" y="9586614"/>
            <a:ext cx="10366744" cy="425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Pressure/Temperature profile for each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Teq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8A0F107-52CA-CDD2-5543-BA3EE8206167}"/>
              </a:ext>
            </a:extLst>
          </p:cNvPr>
          <p:cNvSpPr/>
          <p:nvPr/>
        </p:nvSpPr>
        <p:spPr>
          <a:xfrm>
            <a:off x="953385" y="10732336"/>
            <a:ext cx="10366744" cy="42530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Phase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E309A13-88F6-7514-9DDF-C84670BABCFF}"/>
              </a:ext>
            </a:extLst>
          </p:cNvPr>
          <p:cNvSpPr/>
          <p:nvPr/>
        </p:nvSpPr>
        <p:spPr>
          <a:xfrm>
            <a:off x="976421" y="10234349"/>
            <a:ext cx="10366744" cy="425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Each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Teq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 has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3CE8D09A-65AC-6FF8-3C83-DE7989D078F9}"/>
              </a:ext>
            </a:extLst>
          </p:cNvPr>
          <p:cNvSpPr/>
          <p:nvPr/>
        </p:nvSpPr>
        <p:spPr>
          <a:xfrm>
            <a:off x="5178939" y="11264475"/>
            <a:ext cx="1631513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90 deg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9CE44D7F-F119-DA40-60EE-D2999796F546}"/>
              </a:ext>
            </a:extLst>
          </p:cNvPr>
          <p:cNvSpPr/>
          <p:nvPr/>
        </p:nvSpPr>
        <p:spPr>
          <a:xfrm>
            <a:off x="1617913" y="11264477"/>
            <a:ext cx="1631513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0 deg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72BC77B5-1F9F-BBC1-CABB-35E9A2B0EA12}"/>
              </a:ext>
            </a:extLst>
          </p:cNvPr>
          <p:cNvSpPr/>
          <p:nvPr/>
        </p:nvSpPr>
        <p:spPr>
          <a:xfrm>
            <a:off x="3406684" y="11264476"/>
            <a:ext cx="1631513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45 deg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03CDF24A-896B-DE1C-14FB-6B930BE73D3F}"/>
              </a:ext>
            </a:extLst>
          </p:cNvPr>
          <p:cNvSpPr/>
          <p:nvPr/>
        </p:nvSpPr>
        <p:spPr>
          <a:xfrm>
            <a:off x="6967710" y="11264475"/>
            <a:ext cx="1631513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120 deg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2062E4B2-143B-4F2A-A699-CDA60A3AE507}"/>
              </a:ext>
            </a:extLst>
          </p:cNvPr>
          <p:cNvSpPr/>
          <p:nvPr/>
        </p:nvSpPr>
        <p:spPr>
          <a:xfrm>
            <a:off x="8756481" y="11264475"/>
            <a:ext cx="1631513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140 deg</a:t>
            </a:r>
          </a:p>
        </p:txBody>
      </p:sp>
      <p:sp>
        <p:nvSpPr>
          <p:cNvPr id="65" name="Left Brace 64">
            <a:extLst>
              <a:ext uri="{FF2B5EF4-FFF2-40B4-BE49-F238E27FC236}">
                <a16:creationId xmlns:a16="http://schemas.microsoft.com/office/drawing/2014/main" id="{9D0CD44F-7860-DC1E-E1B7-1CDB50AFA7BA}"/>
              </a:ext>
            </a:extLst>
          </p:cNvPr>
          <p:cNvSpPr/>
          <p:nvPr/>
        </p:nvSpPr>
        <p:spPr>
          <a:xfrm rot="16200000">
            <a:off x="5922318" y="7843789"/>
            <a:ext cx="249865" cy="8681487"/>
          </a:xfrm>
          <a:prstGeom prst="leftBrac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39D61D9-3953-26AC-5805-8916B74F0B3C}"/>
              </a:ext>
            </a:extLst>
          </p:cNvPr>
          <p:cNvSpPr/>
          <p:nvPr/>
        </p:nvSpPr>
        <p:spPr>
          <a:xfrm>
            <a:off x="912628" y="12981298"/>
            <a:ext cx="10366744" cy="810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Stellar Spectrum and cloud-free Albedo, Planet/Star Flux Ratio, and Planet Spectrum from 0.3-2 um at R = 60,000</a:t>
            </a:r>
          </a:p>
          <a:p>
            <a:pPr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  <a:p>
            <a:pPr algn="ctr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And cloudy models: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</p:txBody>
      </p:sp>
      <p:sp>
        <p:nvSpPr>
          <p:cNvPr id="68" name="Left Brace 67">
            <a:extLst>
              <a:ext uri="{FF2B5EF4-FFF2-40B4-BE49-F238E27FC236}">
                <a16:creationId xmlns:a16="http://schemas.microsoft.com/office/drawing/2014/main" id="{92698B83-1672-6329-7E0B-63B13FCF0599}"/>
              </a:ext>
            </a:extLst>
          </p:cNvPr>
          <p:cNvSpPr/>
          <p:nvPr/>
        </p:nvSpPr>
        <p:spPr>
          <a:xfrm rot="16200000">
            <a:off x="5903617" y="9792381"/>
            <a:ext cx="249865" cy="8681487"/>
          </a:xfrm>
          <a:prstGeom prst="leftBrac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2126737-68DB-801E-D7B1-FC09D6204EE7}"/>
              </a:ext>
            </a:extLst>
          </p:cNvPr>
          <p:cNvSpPr/>
          <p:nvPr/>
        </p:nvSpPr>
        <p:spPr>
          <a:xfrm>
            <a:off x="839968" y="12317457"/>
            <a:ext cx="10366744" cy="425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For each phase: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7E834AC-7828-4849-2ABA-B004DA279E82}"/>
              </a:ext>
            </a:extLst>
          </p:cNvPr>
          <p:cNvSpPr/>
          <p:nvPr/>
        </p:nvSpPr>
        <p:spPr>
          <a:xfrm>
            <a:off x="953385" y="14469473"/>
            <a:ext cx="10366744" cy="42530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Sedimentation efficiency </a:t>
            </a:r>
            <a:r>
              <a:rPr lang="en-US" sz="240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f_sed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63328ED5-832F-52E7-837C-71BEBDCA4EDC}"/>
              </a:ext>
            </a:extLst>
          </p:cNvPr>
          <p:cNvSpPr/>
          <p:nvPr/>
        </p:nvSpPr>
        <p:spPr>
          <a:xfrm>
            <a:off x="2330598" y="15006766"/>
            <a:ext cx="1090723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0.1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35DE6BD8-5B32-232E-47F6-E161729EA617}"/>
              </a:ext>
            </a:extLst>
          </p:cNvPr>
          <p:cNvSpPr/>
          <p:nvPr/>
        </p:nvSpPr>
        <p:spPr>
          <a:xfrm>
            <a:off x="3619804" y="15006765"/>
            <a:ext cx="1090723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0.5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09E1CC97-33AC-8002-4493-C9E7552147EC}"/>
              </a:ext>
            </a:extLst>
          </p:cNvPr>
          <p:cNvSpPr/>
          <p:nvPr/>
        </p:nvSpPr>
        <p:spPr>
          <a:xfrm>
            <a:off x="4879602" y="15001615"/>
            <a:ext cx="1090723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C9D81FBE-7EF0-C500-B01B-52E1A9B96524}"/>
              </a:ext>
            </a:extLst>
          </p:cNvPr>
          <p:cNvSpPr/>
          <p:nvPr/>
        </p:nvSpPr>
        <p:spPr>
          <a:xfrm>
            <a:off x="6168808" y="15001614"/>
            <a:ext cx="1090723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3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49E8FDA1-79E3-C235-1246-5E2780984CB5}"/>
              </a:ext>
            </a:extLst>
          </p:cNvPr>
          <p:cNvSpPr/>
          <p:nvPr/>
        </p:nvSpPr>
        <p:spPr>
          <a:xfrm>
            <a:off x="7428606" y="15001615"/>
            <a:ext cx="1090723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6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40B16A2B-32A2-D8BF-E4F8-322D9470AB88}"/>
              </a:ext>
            </a:extLst>
          </p:cNvPr>
          <p:cNvSpPr/>
          <p:nvPr/>
        </p:nvSpPr>
        <p:spPr>
          <a:xfrm>
            <a:off x="8717812" y="15001614"/>
            <a:ext cx="1090723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10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A13D1C24-D6FD-473C-F2DE-B1B89DEB9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70" y="14935995"/>
            <a:ext cx="1130043" cy="771946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3A12A7A1-531F-DDA6-9C13-E460D9539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018" y="15262974"/>
            <a:ext cx="1130043" cy="309739"/>
          </a:xfrm>
          <a:prstGeom prst="rect">
            <a:avLst/>
          </a:prstGeom>
        </p:spPr>
      </p:pic>
      <p:sp>
        <p:nvSpPr>
          <p:cNvPr id="88" name="Left Brace 87">
            <a:extLst>
              <a:ext uri="{FF2B5EF4-FFF2-40B4-BE49-F238E27FC236}">
                <a16:creationId xmlns:a16="http://schemas.microsoft.com/office/drawing/2014/main" id="{02135941-763B-655B-32F8-B720AA8A827E}"/>
              </a:ext>
            </a:extLst>
          </p:cNvPr>
          <p:cNvSpPr/>
          <p:nvPr/>
        </p:nvSpPr>
        <p:spPr>
          <a:xfrm rot="16200000">
            <a:off x="5914064" y="11734567"/>
            <a:ext cx="249865" cy="8681487"/>
          </a:xfrm>
          <a:prstGeom prst="leftBrac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24B0D42-1B94-AA49-211F-7A0A2CC6C9B2}"/>
              </a:ext>
            </a:extLst>
          </p:cNvPr>
          <p:cNvSpPr/>
          <p:nvPr/>
        </p:nvSpPr>
        <p:spPr>
          <a:xfrm>
            <a:off x="963832" y="16411659"/>
            <a:ext cx="10366744" cy="42530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Vertical mixing </a:t>
            </a:r>
            <a:r>
              <a:rPr lang="en-US" sz="240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k_zz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54C5FB39-74ED-8CEB-FC61-DFFFB1585506}"/>
              </a:ext>
            </a:extLst>
          </p:cNvPr>
          <p:cNvSpPr/>
          <p:nvPr/>
        </p:nvSpPr>
        <p:spPr>
          <a:xfrm>
            <a:off x="4528250" y="17048377"/>
            <a:ext cx="1340479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1x10</a:t>
            </a:r>
            <a:r>
              <a:rPr lang="en-US" baseline="30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9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C2A61EBF-1F04-B5A1-0FB3-9E0F0CC70170}"/>
              </a:ext>
            </a:extLst>
          </p:cNvPr>
          <p:cNvSpPr/>
          <p:nvPr/>
        </p:nvSpPr>
        <p:spPr>
          <a:xfrm>
            <a:off x="6168808" y="17048377"/>
            <a:ext cx="1340479" cy="6135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1x10</a:t>
            </a:r>
            <a:r>
              <a:rPr lang="en-US" baseline="30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11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</p:txBody>
      </p:sp>
      <p:sp>
        <p:nvSpPr>
          <p:cNvPr id="92" name="Left Brace 91">
            <a:extLst>
              <a:ext uri="{FF2B5EF4-FFF2-40B4-BE49-F238E27FC236}">
                <a16:creationId xmlns:a16="http://schemas.microsoft.com/office/drawing/2014/main" id="{9245854A-BDD3-8AB1-FA83-05D79EFD1D44}"/>
              </a:ext>
            </a:extLst>
          </p:cNvPr>
          <p:cNvSpPr/>
          <p:nvPr/>
        </p:nvSpPr>
        <p:spPr>
          <a:xfrm rot="16200000">
            <a:off x="5898260" y="13845661"/>
            <a:ext cx="249865" cy="8681487"/>
          </a:xfrm>
          <a:prstGeom prst="leftBrac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89F5BF2-F2DA-3D35-5FC6-ECFFC9EB4092}"/>
              </a:ext>
            </a:extLst>
          </p:cNvPr>
          <p:cNvSpPr/>
          <p:nvPr/>
        </p:nvSpPr>
        <p:spPr>
          <a:xfrm>
            <a:off x="4564013" y="18429267"/>
            <a:ext cx="2849411" cy="616289"/>
          </a:xfrm>
          <a:prstGeom prst="rect">
            <a:avLst/>
          </a:prstGeom>
          <a:solidFill>
            <a:srgbClr val="A6A6A6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75 Models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7B772E4-732F-B398-498F-DA1E6887250F}"/>
              </a:ext>
            </a:extLst>
          </p:cNvPr>
          <p:cNvSpPr/>
          <p:nvPr/>
        </p:nvSpPr>
        <p:spPr>
          <a:xfrm>
            <a:off x="4571109" y="19313554"/>
            <a:ext cx="2849411" cy="616289"/>
          </a:xfrm>
          <a:prstGeom prst="rect">
            <a:avLst/>
          </a:prstGeom>
          <a:solidFill>
            <a:srgbClr val="A6A6A6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485 spectra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09D3266-C09C-9B3D-C8FD-210BF84E6E2E}"/>
              </a:ext>
            </a:extLst>
          </p:cNvPr>
          <p:cNvSpPr/>
          <p:nvPr/>
        </p:nvSpPr>
        <p:spPr>
          <a:xfrm>
            <a:off x="8069518" y="18503079"/>
            <a:ext cx="2849411" cy="1251140"/>
          </a:xfrm>
          <a:prstGeom prst="rect">
            <a:avLst/>
          </a:prstGeom>
          <a:solidFill>
            <a:srgbClr val="A6A6A6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36,375 total spectra</a:t>
            </a:r>
          </a:p>
        </p:txBody>
      </p:sp>
      <p:sp>
        <p:nvSpPr>
          <p:cNvPr id="96" name="Left Brace 95">
            <a:extLst>
              <a:ext uri="{FF2B5EF4-FFF2-40B4-BE49-F238E27FC236}">
                <a16:creationId xmlns:a16="http://schemas.microsoft.com/office/drawing/2014/main" id="{59100431-2A16-6C65-8FF7-CAB2D1952499}"/>
              </a:ext>
            </a:extLst>
          </p:cNvPr>
          <p:cNvSpPr/>
          <p:nvPr/>
        </p:nvSpPr>
        <p:spPr>
          <a:xfrm rot="10800000">
            <a:off x="7580864" y="18606965"/>
            <a:ext cx="190188" cy="1043368"/>
          </a:xfrm>
          <a:prstGeom prst="leftBrac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78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4144</TotalTime>
  <Words>277</Words>
  <Application>Microsoft Macintosh PowerPoint</Application>
  <PresentationFormat>Custom</PresentationFormat>
  <Paragraphs>87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Montserrat</vt:lpstr>
      <vt:lpstr>Cubano</vt:lpstr>
      <vt:lpstr>Arial</vt:lpstr>
      <vt:lpstr>Aptos Display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Pearce, Logan</dc:creator>
  <cp:lastModifiedBy>Pearce, Logan</cp:lastModifiedBy>
  <cp:revision>5</cp:revision>
  <dcterms:created xsi:type="dcterms:W3CDTF">2026-01-09T19:17:57Z</dcterms:created>
  <dcterms:modified xsi:type="dcterms:W3CDTF">2026-01-12T16:46:33Z</dcterms:modified>
</cp:coreProperties>
</file>