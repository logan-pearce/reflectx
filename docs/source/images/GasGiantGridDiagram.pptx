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96" r:id="rId1"/>
  </p:sldMasterIdLst>
  <p:sldIdLst>
    <p:sldId id="256" r:id="rId2"/>
    <p:sldId id="257" r:id="rId3"/>
  </p:sldIdLst>
  <p:sldSz cx="12192000" cy="20116800"/>
  <p:notesSz cx="6858000" cy="9144000"/>
  <p:embeddedFontLst>
    <p:embeddedFont>
      <p:font typeface="Cubano" pitchFamily="2" charset="0"/>
      <p:regular r:id="rId4"/>
    </p:embeddedFont>
    <p:embeddedFont>
      <p:font typeface="Montserrat" pitchFamily="2" charset="77"/>
      <p:regular r:id="rId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91"/>
    <p:restoredTop sz="94828"/>
  </p:normalViewPr>
  <p:slideViewPr>
    <p:cSldViewPr snapToGrid="0">
      <p:cViewPr>
        <p:scale>
          <a:sx n="80" d="100"/>
          <a:sy n="80" d="100"/>
        </p:scale>
        <p:origin x="2752" y="-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2.fntdata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3292265"/>
            <a:ext cx="10363200" cy="700362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10565978"/>
            <a:ext cx="9144000" cy="4856902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13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84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5015236"/>
            <a:ext cx="10515600" cy="836802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3462429"/>
            <a:ext cx="10515600" cy="44005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715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5355167"/>
            <a:ext cx="5181600" cy="127639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5355167"/>
            <a:ext cx="5181600" cy="127639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29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71038"/>
            <a:ext cx="10515600" cy="38883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4931411"/>
            <a:ext cx="5157787" cy="241680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7348220"/>
            <a:ext cx="5157787" cy="10808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4931411"/>
            <a:ext cx="5183188" cy="241680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7348220"/>
            <a:ext cx="5183188" cy="10808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621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61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79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341120"/>
            <a:ext cx="3932237" cy="469392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896451"/>
            <a:ext cx="6172200" cy="142959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6035040"/>
            <a:ext cx="3932237" cy="11180658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42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341120"/>
            <a:ext cx="3932237" cy="469392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896451"/>
            <a:ext cx="6172200" cy="142959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6035040"/>
            <a:ext cx="3932237" cy="11180658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756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177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1071033"/>
            <a:ext cx="2628900" cy="1704805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1071033"/>
            <a:ext cx="7734300" cy="1704805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838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071038"/>
            <a:ext cx="10515600" cy="38883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5355167"/>
            <a:ext cx="10515600" cy="12763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8645298"/>
            <a:ext cx="274320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942819-11AB-1648-BCC9-D8D9EF54700A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8645298"/>
            <a:ext cx="411480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8645298"/>
            <a:ext cx="274320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E84196-D280-DB41-B512-B575E24FDD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070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0B93FED-CBB7-9F35-50CB-3B2598115A6E}"/>
              </a:ext>
            </a:extLst>
          </p:cNvPr>
          <p:cNvSpPr/>
          <p:nvPr/>
        </p:nvSpPr>
        <p:spPr>
          <a:xfrm>
            <a:off x="912628" y="1300212"/>
            <a:ext cx="1974112" cy="1538139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Teff = 3000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 = 0.16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 = 0.2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Logg = 5.0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 = 1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674C4DD-4F17-8998-E03C-531EBD29ED8B}"/>
              </a:ext>
            </a:extLst>
          </p:cNvPr>
          <p:cNvSpPr/>
          <p:nvPr/>
        </p:nvSpPr>
        <p:spPr>
          <a:xfrm>
            <a:off x="3010786" y="1300212"/>
            <a:ext cx="1974112" cy="1538139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Teff = 3500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 = 0.44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 = 0.45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Logg = 4.8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 = 1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88A701E-EB2B-0DEC-D3C4-29E4E1061391}"/>
              </a:ext>
            </a:extLst>
          </p:cNvPr>
          <p:cNvSpPr/>
          <p:nvPr/>
        </p:nvSpPr>
        <p:spPr>
          <a:xfrm>
            <a:off x="5108944" y="1300211"/>
            <a:ext cx="1974112" cy="1548339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Teff = 4000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 = 0.64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 = 0.63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Logg = 4.6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 = 1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D0D132-6AC6-F248-BA51-FEBB0D8EACA5}"/>
              </a:ext>
            </a:extLst>
          </p:cNvPr>
          <p:cNvSpPr/>
          <p:nvPr/>
        </p:nvSpPr>
        <p:spPr>
          <a:xfrm>
            <a:off x="7207102" y="1300210"/>
            <a:ext cx="1974112" cy="1548339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Teff = 5000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 = 0.8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 = 0.8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Logg = 4.5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 = 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081DCBF-16C3-1B1F-DF78-9E938744E4C2}"/>
              </a:ext>
            </a:extLst>
          </p:cNvPr>
          <p:cNvSpPr/>
          <p:nvPr/>
        </p:nvSpPr>
        <p:spPr>
          <a:xfrm>
            <a:off x="9305260" y="1300209"/>
            <a:ext cx="1974112" cy="1548339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Teff = 7000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 = 1.5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 = 1.7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Logg = 4.2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 =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3D841A-FB94-35C5-CDEA-C108403E1AF0}"/>
              </a:ext>
            </a:extLst>
          </p:cNvPr>
          <p:cNvSpPr/>
          <p:nvPr/>
        </p:nvSpPr>
        <p:spPr>
          <a:xfrm>
            <a:off x="912628" y="807160"/>
            <a:ext cx="10366744" cy="425303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Star</a:t>
            </a:r>
            <a:endParaRPr lang="en-U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A03B1912-BDDF-C69E-AF7A-D7398E4D71BE}"/>
              </a:ext>
            </a:extLst>
          </p:cNvPr>
          <p:cNvSpPr/>
          <p:nvPr/>
        </p:nvSpPr>
        <p:spPr>
          <a:xfrm rot="16200000">
            <a:off x="6011827" y="-1299517"/>
            <a:ext cx="249865" cy="8681487"/>
          </a:xfrm>
          <a:prstGeom prst="leftBrac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CFFF3D-C5B2-6C6F-E44E-510DFCF0C1E3}"/>
              </a:ext>
            </a:extLst>
          </p:cNvPr>
          <p:cNvSpPr/>
          <p:nvPr/>
        </p:nvSpPr>
        <p:spPr>
          <a:xfrm>
            <a:off x="942753" y="3342152"/>
            <a:ext cx="10366744" cy="425303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Planet</a:t>
            </a:r>
            <a:endParaRPr lang="en-U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6D2A122-3587-A22B-DD94-C61F5557012E}"/>
              </a:ext>
            </a:extLst>
          </p:cNvPr>
          <p:cNvSpPr/>
          <p:nvPr/>
        </p:nvSpPr>
        <p:spPr>
          <a:xfrm>
            <a:off x="2927497" y="3869572"/>
            <a:ext cx="2098158" cy="1341783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SuperNeptune</a:t>
            </a:r>
            <a:endParaRPr lang="en-U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 = 0.09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 = 0.54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 = 50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9073638-C0E0-FA74-EBD2-84ABD823C9C4}"/>
              </a:ext>
            </a:extLst>
          </p:cNvPr>
          <p:cNvSpPr/>
          <p:nvPr/>
        </p:nvSpPr>
        <p:spPr>
          <a:xfrm>
            <a:off x="767316" y="3869571"/>
            <a:ext cx="2098158" cy="1341783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Neptune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 = 0.05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 = 0.35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 = 100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2DFA31C-8C87-0672-023B-F3D6C21E6810}"/>
              </a:ext>
            </a:extLst>
          </p:cNvPr>
          <p:cNvSpPr/>
          <p:nvPr/>
        </p:nvSpPr>
        <p:spPr>
          <a:xfrm>
            <a:off x="5087678" y="3886561"/>
            <a:ext cx="2098158" cy="1341783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Saturn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 = 0.3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 = 0.8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 = 10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F578E5F-170B-5520-26E7-72243583B12F}"/>
              </a:ext>
            </a:extLst>
          </p:cNvPr>
          <p:cNvSpPr/>
          <p:nvPr/>
        </p:nvSpPr>
        <p:spPr>
          <a:xfrm>
            <a:off x="7247859" y="3869571"/>
            <a:ext cx="2098158" cy="1341783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Jupiter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 = 1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 = 1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 = 3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DDF4904-30E2-49A5-C3A2-EA5C483219C5}"/>
              </a:ext>
            </a:extLst>
          </p:cNvPr>
          <p:cNvSpPr/>
          <p:nvPr/>
        </p:nvSpPr>
        <p:spPr>
          <a:xfrm>
            <a:off x="9408040" y="3886560"/>
            <a:ext cx="2098158" cy="1341783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SuperJupiter</a:t>
            </a:r>
            <a:endParaRPr lang="en-U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M = 5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R = 0.9</a:t>
            </a:r>
          </a:p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[M/H] = 1</a:t>
            </a:r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175F7324-F719-1E3C-133E-4A7F702A6179}"/>
              </a:ext>
            </a:extLst>
          </p:cNvPr>
          <p:cNvSpPr/>
          <p:nvPr/>
        </p:nvSpPr>
        <p:spPr>
          <a:xfrm rot="16200000">
            <a:off x="6001195" y="1224341"/>
            <a:ext cx="249865" cy="8681487"/>
          </a:xfrm>
          <a:prstGeom prst="leftBrac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45B7BAF-5AF6-BC84-002B-E42EC9A6F218}"/>
              </a:ext>
            </a:extLst>
          </p:cNvPr>
          <p:cNvSpPr/>
          <p:nvPr/>
        </p:nvSpPr>
        <p:spPr>
          <a:xfrm>
            <a:off x="953385" y="5842324"/>
            <a:ext cx="10366744" cy="425303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C/O</a:t>
            </a:r>
            <a:endParaRPr lang="en-U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5C6B596-2C03-F117-35D3-6AEF4DDD1CA4}"/>
              </a:ext>
            </a:extLst>
          </p:cNvPr>
          <p:cNvSpPr/>
          <p:nvPr/>
        </p:nvSpPr>
        <p:spPr>
          <a:xfrm>
            <a:off x="2259419" y="6411077"/>
            <a:ext cx="2098158" cy="7258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0.5 Solar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20F7222-B0A0-BD1C-6761-010E54C1E986}"/>
              </a:ext>
            </a:extLst>
          </p:cNvPr>
          <p:cNvSpPr/>
          <p:nvPr/>
        </p:nvSpPr>
        <p:spPr>
          <a:xfrm>
            <a:off x="4984898" y="6411077"/>
            <a:ext cx="2098158" cy="7258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1.0 Solar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A9AD7D84-E0EF-45A9-F15D-BDBC566075B2}"/>
              </a:ext>
            </a:extLst>
          </p:cNvPr>
          <p:cNvSpPr/>
          <p:nvPr/>
        </p:nvSpPr>
        <p:spPr>
          <a:xfrm>
            <a:off x="7710377" y="6410018"/>
            <a:ext cx="2098158" cy="7258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1.5 Solar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E349BA3-3B39-83F6-0F8A-043EB5C6AD1C}"/>
              </a:ext>
            </a:extLst>
          </p:cNvPr>
          <p:cNvSpPr/>
          <p:nvPr/>
        </p:nvSpPr>
        <p:spPr>
          <a:xfrm>
            <a:off x="508594" y="494545"/>
            <a:ext cx="11174819" cy="6847366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12BA023-44A1-864C-2ACE-A08C03CFD107}"/>
              </a:ext>
            </a:extLst>
          </p:cNvPr>
          <p:cNvSpPr/>
          <p:nvPr/>
        </p:nvSpPr>
        <p:spPr>
          <a:xfrm>
            <a:off x="618461" y="286158"/>
            <a:ext cx="10955078" cy="425303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Model</a:t>
            </a:r>
            <a:endParaRPr lang="en-US" sz="2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145EE6-5F29-422B-11F6-5F074F6A94E7}"/>
              </a:ext>
            </a:extLst>
          </p:cNvPr>
          <p:cNvSpPr/>
          <p:nvPr/>
        </p:nvSpPr>
        <p:spPr>
          <a:xfrm>
            <a:off x="618461" y="7786819"/>
            <a:ext cx="10955078" cy="425303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Each Model contains</a:t>
            </a:r>
            <a:endParaRPr lang="en-US" sz="2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8DE7CC-247E-0D89-313C-BD68DE6B3E03}"/>
              </a:ext>
            </a:extLst>
          </p:cNvPr>
          <p:cNvSpPr/>
          <p:nvPr/>
        </p:nvSpPr>
        <p:spPr>
          <a:xfrm>
            <a:off x="953385" y="8344969"/>
            <a:ext cx="10366744" cy="425303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Equil</a:t>
            </a:r>
            <a:r>
              <a:rPr lang="en-US" sz="2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 temp -&gt; sets separation</a:t>
            </a:r>
            <a:endParaRPr lang="en-U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946B5EC1-8F22-59D2-2050-C43A06F32661}"/>
              </a:ext>
            </a:extLst>
          </p:cNvPr>
          <p:cNvSpPr/>
          <p:nvPr/>
        </p:nvSpPr>
        <p:spPr>
          <a:xfrm rot="16200000">
            <a:off x="5971069" y="5756793"/>
            <a:ext cx="249865" cy="8681487"/>
          </a:xfrm>
          <a:prstGeom prst="leftBrac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840E5382-1D37-7736-97F1-F48CACCB8E1B}"/>
              </a:ext>
            </a:extLst>
          </p:cNvPr>
          <p:cNvSpPr/>
          <p:nvPr/>
        </p:nvSpPr>
        <p:spPr>
          <a:xfrm>
            <a:off x="2708636" y="8842579"/>
            <a:ext cx="977308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100 K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4961F978-11FE-C2A6-3533-A3FF4D935920}"/>
              </a:ext>
            </a:extLst>
          </p:cNvPr>
          <p:cNvSpPr/>
          <p:nvPr/>
        </p:nvSpPr>
        <p:spPr>
          <a:xfrm>
            <a:off x="1617911" y="8842579"/>
            <a:ext cx="977308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75 K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04ADCB85-E36D-B8FB-D3BB-53F19D0001BA}"/>
              </a:ext>
            </a:extLst>
          </p:cNvPr>
          <p:cNvSpPr/>
          <p:nvPr/>
        </p:nvSpPr>
        <p:spPr>
          <a:xfrm>
            <a:off x="3799361" y="8842579"/>
            <a:ext cx="977308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150 K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C98D5080-7400-F103-3BB5-8506D649B152}"/>
              </a:ext>
            </a:extLst>
          </p:cNvPr>
          <p:cNvSpPr/>
          <p:nvPr/>
        </p:nvSpPr>
        <p:spPr>
          <a:xfrm>
            <a:off x="4910760" y="8842578"/>
            <a:ext cx="977308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180 K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FAE20BE1-A0F0-BBE6-1D64-AACBC9018D19}"/>
              </a:ext>
            </a:extLst>
          </p:cNvPr>
          <p:cNvSpPr/>
          <p:nvPr/>
        </p:nvSpPr>
        <p:spPr>
          <a:xfrm>
            <a:off x="6001485" y="8842577"/>
            <a:ext cx="977308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200 K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CF1BE14-7C48-F5EA-A9ED-E4397443F330}"/>
              </a:ext>
            </a:extLst>
          </p:cNvPr>
          <p:cNvSpPr/>
          <p:nvPr/>
        </p:nvSpPr>
        <p:spPr>
          <a:xfrm>
            <a:off x="7092210" y="8842576"/>
            <a:ext cx="977308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250 K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E948ABA0-D1C0-9E46-03E4-B7CEA2EA8EF0}"/>
              </a:ext>
            </a:extLst>
          </p:cNvPr>
          <p:cNvSpPr/>
          <p:nvPr/>
        </p:nvSpPr>
        <p:spPr>
          <a:xfrm>
            <a:off x="8203609" y="8842575"/>
            <a:ext cx="977308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300 K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91C22F4-C15B-C9AC-E4C8-2D411E022BED}"/>
              </a:ext>
            </a:extLst>
          </p:cNvPr>
          <p:cNvSpPr/>
          <p:nvPr/>
        </p:nvSpPr>
        <p:spPr>
          <a:xfrm>
            <a:off x="9315008" y="8842575"/>
            <a:ext cx="977308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500 K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D2228E1-B4BA-A21E-1ACC-33B54BDC4849}"/>
              </a:ext>
            </a:extLst>
          </p:cNvPr>
          <p:cNvSpPr/>
          <p:nvPr/>
        </p:nvSpPr>
        <p:spPr>
          <a:xfrm>
            <a:off x="976421" y="9586614"/>
            <a:ext cx="10366744" cy="4253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Pressure/Temperature profile for each </a:t>
            </a:r>
            <a:r>
              <a:rPr lang="en-US" sz="2000" dirty="0" err="1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Teq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8A0F107-52CA-CDD2-5543-BA3EE8206167}"/>
              </a:ext>
            </a:extLst>
          </p:cNvPr>
          <p:cNvSpPr/>
          <p:nvPr/>
        </p:nvSpPr>
        <p:spPr>
          <a:xfrm>
            <a:off x="953385" y="10732336"/>
            <a:ext cx="10366744" cy="425303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Phase</a:t>
            </a:r>
            <a:endParaRPr lang="en-U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E309A13-88F6-7514-9DDF-C84670BABCFF}"/>
              </a:ext>
            </a:extLst>
          </p:cNvPr>
          <p:cNvSpPr/>
          <p:nvPr/>
        </p:nvSpPr>
        <p:spPr>
          <a:xfrm>
            <a:off x="976421" y="10234349"/>
            <a:ext cx="10366744" cy="4253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Each </a:t>
            </a:r>
            <a:r>
              <a:rPr lang="en-US" sz="2000" dirty="0" err="1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Teq</a:t>
            </a: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 has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3CE8D09A-65AC-6FF8-3C83-DE7989D078F9}"/>
              </a:ext>
            </a:extLst>
          </p:cNvPr>
          <p:cNvSpPr/>
          <p:nvPr/>
        </p:nvSpPr>
        <p:spPr>
          <a:xfrm>
            <a:off x="5178939" y="11264475"/>
            <a:ext cx="1631513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90 deg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9CE44D7F-F119-DA40-60EE-D2999796F546}"/>
              </a:ext>
            </a:extLst>
          </p:cNvPr>
          <p:cNvSpPr/>
          <p:nvPr/>
        </p:nvSpPr>
        <p:spPr>
          <a:xfrm>
            <a:off x="1617913" y="11264477"/>
            <a:ext cx="1631513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0 deg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72BC77B5-1F9F-BBC1-CABB-35E9A2B0EA12}"/>
              </a:ext>
            </a:extLst>
          </p:cNvPr>
          <p:cNvSpPr/>
          <p:nvPr/>
        </p:nvSpPr>
        <p:spPr>
          <a:xfrm>
            <a:off x="3406684" y="11264476"/>
            <a:ext cx="1631513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45 deg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03CDF24A-896B-DE1C-14FB-6B930BE73D3F}"/>
              </a:ext>
            </a:extLst>
          </p:cNvPr>
          <p:cNvSpPr/>
          <p:nvPr/>
        </p:nvSpPr>
        <p:spPr>
          <a:xfrm>
            <a:off x="6967710" y="11264475"/>
            <a:ext cx="1631513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120 deg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2062E4B2-143B-4F2A-A699-CDA60A3AE507}"/>
              </a:ext>
            </a:extLst>
          </p:cNvPr>
          <p:cNvSpPr/>
          <p:nvPr/>
        </p:nvSpPr>
        <p:spPr>
          <a:xfrm>
            <a:off x="8756481" y="11264475"/>
            <a:ext cx="1631513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140 deg</a:t>
            </a:r>
          </a:p>
        </p:txBody>
      </p:sp>
      <p:sp>
        <p:nvSpPr>
          <p:cNvPr id="65" name="Left Brace 64">
            <a:extLst>
              <a:ext uri="{FF2B5EF4-FFF2-40B4-BE49-F238E27FC236}">
                <a16:creationId xmlns:a16="http://schemas.microsoft.com/office/drawing/2014/main" id="{9D0CD44F-7860-DC1E-E1B7-1CDB50AFA7BA}"/>
              </a:ext>
            </a:extLst>
          </p:cNvPr>
          <p:cNvSpPr/>
          <p:nvPr/>
        </p:nvSpPr>
        <p:spPr>
          <a:xfrm rot="16200000">
            <a:off x="5922318" y="7843789"/>
            <a:ext cx="249865" cy="8681487"/>
          </a:xfrm>
          <a:prstGeom prst="leftBrac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39D61D9-3953-26AC-5805-8916B74F0B3C}"/>
              </a:ext>
            </a:extLst>
          </p:cNvPr>
          <p:cNvSpPr/>
          <p:nvPr/>
        </p:nvSpPr>
        <p:spPr>
          <a:xfrm>
            <a:off x="912628" y="12981298"/>
            <a:ext cx="10366744" cy="810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Stellar Spectrum and cloud-free Albedo, Planet/Star Flux Ratio, and Planet Spectrum from 0.3-2 um at R = 60,000</a:t>
            </a:r>
          </a:p>
          <a:p>
            <a:pPr algn="ctr"/>
            <a:endParaRPr lang="en-US" sz="2000" dirty="0">
              <a:solidFill>
                <a:schemeClr val="tx1">
                  <a:lumMod val="85000"/>
                  <a:lumOff val="1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  <a:p>
            <a:pPr algn="ctr"/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And cloudy models: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</p:txBody>
      </p:sp>
      <p:sp>
        <p:nvSpPr>
          <p:cNvPr id="68" name="Left Brace 67">
            <a:extLst>
              <a:ext uri="{FF2B5EF4-FFF2-40B4-BE49-F238E27FC236}">
                <a16:creationId xmlns:a16="http://schemas.microsoft.com/office/drawing/2014/main" id="{92698B83-1672-6329-7E0B-63B13FCF0599}"/>
              </a:ext>
            </a:extLst>
          </p:cNvPr>
          <p:cNvSpPr/>
          <p:nvPr/>
        </p:nvSpPr>
        <p:spPr>
          <a:xfrm rot="16200000">
            <a:off x="5903617" y="9792381"/>
            <a:ext cx="249865" cy="8681487"/>
          </a:xfrm>
          <a:prstGeom prst="leftBrac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2126737-68DB-801E-D7B1-FC09D6204EE7}"/>
              </a:ext>
            </a:extLst>
          </p:cNvPr>
          <p:cNvSpPr/>
          <p:nvPr/>
        </p:nvSpPr>
        <p:spPr>
          <a:xfrm>
            <a:off x="839968" y="12317457"/>
            <a:ext cx="10366744" cy="4253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For each phase: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7E834AC-7828-4849-2ABA-B004DA279E82}"/>
              </a:ext>
            </a:extLst>
          </p:cNvPr>
          <p:cNvSpPr/>
          <p:nvPr/>
        </p:nvSpPr>
        <p:spPr>
          <a:xfrm>
            <a:off x="953385" y="14469473"/>
            <a:ext cx="10366744" cy="425303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Sedimentation efficiency </a:t>
            </a:r>
            <a:r>
              <a:rPr lang="en-US" sz="2400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f_sed</a:t>
            </a:r>
            <a:endParaRPr lang="en-U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63328ED5-832F-52E7-837C-71BEBDCA4EDC}"/>
              </a:ext>
            </a:extLst>
          </p:cNvPr>
          <p:cNvSpPr/>
          <p:nvPr/>
        </p:nvSpPr>
        <p:spPr>
          <a:xfrm>
            <a:off x="2330598" y="15006766"/>
            <a:ext cx="1090723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0.1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35DE6BD8-5B32-232E-47F6-E161729EA617}"/>
              </a:ext>
            </a:extLst>
          </p:cNvPr>
          <p:cNvSpPr/>
          <p:nvPr/>
        </p:nvSpPr>
        <p:spPr>
          <a:xfrm>
            <a:off x="3619804" y="15006765"/>
            <a:ext cx="1090723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0.5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9E1CC97-33AC-8002-4493-C9E7552147EC}"/>
              </a:ext>
            </a:extLst>
          </p:cNvPr>
          <p:cNvSpPr/>
          <p:nvPr/>
        </p:nvSpPr>
        <p:spPr>
          <a:xfrm>
            <a:off x="4879602" y="15001615"/>
            <a:ext cx="1090723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C9D81FBE-7EF0-C500-B01B-52E1A9B96524}"/>
              </a:ext>
            </a:extLst>
          </p:cNvPr>
          <p:cNvSpPr/>
          <p:nvPr/>
        </p:nvSpPr>
        <p:spPr>
          <a:xfrm>
            <a:off x="6168808" y="15001614"/>
            <a:ext cx="1090723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3</a:t>
            </a: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49E8FDA1-79E3-C235-1246-5E2780984CB5}"/>
              </a:ext>
            </a:extLst>
          </p:cNvPr>
          <p:cNvSpPr/>
          <p:nvPr/>
        </p:nvSpPr>
        <p:spPr>
          <a:xfrm>
            <a:off x="7428606" y="15001615"/>
            <a:ext cx="1090723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6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40B16A2B-32A2-D8BF-E4F8-322D9470AB88}"/>
              </a:ext>
            </a:extLst>
          </p:cNvPr>
          <p:cNvSpPr/>
          <p:nvPr/>
        </p:nvSpPr>
        <p:spPr>
          <a:xfrm>
            <a:off x="8717812" y="15001614"/>
            <a:ext cx="1090723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10</a:t>
            </a:r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A13D1C24-D6FD-473C-F2DE-B1B89DEB9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270" y="14935995"/>
            <a:ext cx="1130043" cy="771946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3A12A7A1-531F-DDA6-9C13-E460D9539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018" y="15262974"/>
            <a:ext cx="1130043" cy="309739"/>
          </a:xfrm>
          <a:prstGeom prst="rect">
            <a:avLst/>
          </a:prstGeom>
        </p:spPr>
      </p:pic>
      <p:sp>
        <p:nvSpPr>
          <p:cNvPr id="88" name="Left Brace 87">
            <a:extLst>
              <a:ext uri="{FF2B5EF4-FFF2-40B4-BE49-F238E27FC236}">
                <a16:creationId xmlns:a16="http://schemas.microsoft.com/office/drawing/2014/main" id="{02135941-763B-655B-32F8-B720AA8A827E}"/>
              </a:ext>
            </a:extLst>
          </p:cNvPr>
          <p:cNvSpPr/>
          <p:nvPr/>
        </p:nvSpPr>
        <p:spPr>
          <a:xfrm rot="16200000">
            <a:off x="5914064" y="11734567"/>
            <a:ext cx="249865" cy="8681487"/>
          </a:xfrm>
          <a:prstGeom prst="leftBrac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24B0D42-1B94-AA49-211F-7A0A2CC6C9B2}"/>
              </a:ext>
            </a:extLst>
          </p:cNvPr>
          <p:cNvSpPr/>
          <p:nvPr/>
        </p:nvSpPr>
        <p:spPr>
          <a:xfrm>
            <a:off x="963832" y="16411659"/>
            <a:ext cx="10366744" cy="425303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Vertical mixing </a:t>
            </a:r>
            <a:r>
              <a:rPr lang="en-US" sz="2400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k_zz</a:t>
            </a:r>
            <a:endParaRPr lang="en-U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54C5FB39-74ED-8CEB-FC61-DFFFB1585506}"/>
              </a:ext>
            </a:extLst>
          </p:cNvPr>
          <p:cNvSpPr/>
          <p:nvPr/>
        </p:nvSpPr>
        <p:spPr>
          <a:xfrm>
            <a:off x="4528250" y="17048377"/>
            <a:ext cx="1340479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1x10</a:t>
            </a:r>
            <a:r>
              <a:rPr lang="en-US" baseline="30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9</a:t>
            </a:r>
            <a:endParaRPr lang="en-U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C2A61EBF-1F04-B5A1-0FB3-9E0F0CC70170}"/>
              </a:ext>
            </a:extLst>
          </p:cNvPr>
          <p:cNvSpPr/>
          <p:nvPr/>
        </p:nvSpPr>
        <p:spPr>
          <a:xfrm>
            <a:off x="6168808" y="17048377"/>
            <a:ext cx="1340479" cy="61358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1x10</a:t>
            </a:r>
            <a:r>
              <a:rPr lang="en-US" baseline="30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11</a:t>
            </a:r>
            <a:endParaRPr lang="en-U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</p:txBody>
      </p:sp>
      <p:sp>
        <p:nvSpPr>
          <p:cNvPr id="92" name="Left Brace 91">
            <a:extLst>
              <a:ext uri="{FF2B5EF4-FFF2-40B4-BE49-F238E27FC236}">
                <a16:creationId xmlns:a16="http://schemas.microsoft.com/office/drawing/2014/main" id="{9245854A-BDD3-8AB1-FA83-05D79EFD1D44}"/>
              </a:ext>
            </a:extLst>
          </p:cNvPr>
          <p:cNvSpPr/>
          <p:nvPr/>
        </p:nvSpPr>
        <p:spPr>
          <a:xfrm rot="16200000">
            <a:off x="5898260" y="13845661"/>
            <a:ext cx="249865" cy="8681487"/>
          </a:xfrm>
          <a:prstGeom prst="leftBrac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89F5BF2-F2DA-3D35-5FC6-ECFFC9EB4092}"/>
              </a:ext>
            </a:extLst>
          </p:cNvPr>
          <p:cNvSpPr/>
          <p:nvPr/>
        </p:nvSpPr>
        <p:spPr>
          <a:xfrm>
            <a:off x="4564013" y="18429267"/>
            <a:ext cx="2849411" cy="616289"/>
          </a:xfrm>
          <a:prstGeom prst="rect">
            <a:avLst/>
          </a:prstGeom>
          <a:solidFill>
            <a:srgbClr val="A6A6A6"/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75 Models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7B772E4-732F-B398-498F-DA1E6887250F}"/>
              </a:ext>
            </a:extLst>
          </p:cNvPr>
          <p:cNvSpPr/>
          <p:nvPr/>
        </p:nvSpPr>
        <p:spPr>
          <a:xfrm>
            <a:off x="4571109" y="19313554"/>
            <a:ext cx="2849411" cy="616289"/>
          </a:xfrm>
          <a:prstGeom prst="rect">
            <a:avLst/>
          </a:prstGeom>
          <a:solidFill>
            <a:srgbClr val="A6A6A6"/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485 spectra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09D3266-C09C-9B3D-C8FD-210BF84E6E2E}"/>
              </a:ext>
            </a:extLst>
          </p:cNvPr>
          <p:cNvSpPr/>
          <p:nvPr/>
        </p:nvSpPr>
        <p:spPr>
          <a:xfrm>
            <a:off x="8069518" y="18503079"/>
            <a:ext cx="2849411" cy="1251140"/>
          </a:xfrm>
          <a:prstGeom prst="rect">
            <a:avLst/>
          </a:prstGeom>
          <a:solidFill>
            <a:srgbClr val="A6A6A6"/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36,375 total spectra</a:t>
            </a:r>
          </a:p>
        </p:txBody>
      </p:sp>
      <p:sp>
        <p:nvSpPr>
          <p:cNvPr id="96" name="Left Brace 95">
            <a:extLst>
              <a:ext uri="{FF2B5EF4-FFF2-40B4-BE49-F238E27FC236}">
                <a16:creationId xmlns:a16="http://schemas.microsoft.com/office/drawing/2014/main" id="{59100431-2A16-6C65-8FF7-CAB2D1952499}"/>
              </a:ext>
            </a:extLst>
          </p:cNvPr>
          <p:cNvSpPr/>
          <p:nvPr/>
        </p:nvSpPr>
        <p:spPr>
          <a:xfrm rot="10800000">
            <a:off x="7580864" y="18606965"/>
            <a:ext cx="190188" cy="1043368"/>
          </a:xfrm>
          <a:prstGeom prst="leftBrac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978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E167644-7760-A4D6-2987-8151F592A76D}"/>
              </a:ext>
            </a:extLst>
          </p:cNvPr>
          <p:cNvSpPr/>
          <p:nvPr/>
        </p:nvSpPr>
        <p:spPr>
          <a:xfrm>
            <a:off x="874736" y="7647813"/>
            <a:ext cx="1865376" cy="3026664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/>
              <a:t>Radius = 4 </a:t>
            </a:r>
            <a:r>
              <a:rPr lang="en-US" dirty="0" err="1"/>
              <a:t>Rearth</a:t>
            </a:r>
            <a:r>
              <a:rPr lang="en-US" dirty="0"/>
              <a:t> = 0.35Rjup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Mass = 17Mearth = 0.05Mjup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Metallicity = 100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58613B8-0A45-D984-E0A3-535A8FDE7667}"/>
              </a:ext>
            </a:extLst>
          </p:cNvPr>
          <p:cNvSpPr/>
          <p:nvPr/>
        </p:nvSpPr>
        <p:spPr>
          <a:xfrm>
            <a:off x="3054056" y="7647814"/>
            <a:ext cx="1865376" cy="3026663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6 </a:t>
            </a:r>
            <a:r>
              <a:rPr lang="en-US" dirty="0" err="1"/>
              <a:t>Rearth</a:t>
            </a:r>
            <a:r>
              <a:rPr lang="en-US" dirty="0"/>
              <a:t> = 0.54Rjup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Mass = 30Mearth = 0.09Mjup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Metallicity = 50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E3C680A-06C2-67DC-4F38-A167FE38AAC2}"/>
              </a:ext>
            </a:extLst>
          </p:cNvPr>
          <p:cNvSpPr/>
          <p:nvPr/>
        </p:nvSpPr>
        <p:spPr>
          <a:xfrm>
            <a:off x="5233376" y="7647813"/>
            <a:ext cx="1865376" cy="3026662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9 </a:t>
            </a:r>
            <a:r>
              <a:rPr lang="en-US" dirty="0" err="1"/>
              <a:t>Rearth</a:t>
            </a:r>
            <a:r>
              <a:rPr lang="en-US" dirty="0"/>
              <a:t> = 0.8Rjup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Mass = 95Mearth = 0.3Mjup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Metallicity = 10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2E31137-8971-6C46-BBD2-AD3B3415F573}"/>
              </a:ext>
            </a:extLst>
          </p:cNvPr>
          <p:cNvSpPr/>
          <p:nvPr/>
        </p:nvSpPr>
        <p:spPr>
          <a:xfrm>
            <a:off x="7348688" y="7647814"/>
            <a:ext cx="1865376" cy="302666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11Rearth = 1Rjup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Mass = 317Mearth = 1Mjup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Metallicity = 3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8D4ACD1-6293-F751-BE98-F58E03B9FADB}"/>
              </a:ext>
            </a:extLst>
          </p:cNvPr>
          <p:cNvSpPr/>
          <p:nvPr/>
        </p:nvSpPr>
        <p:spPr>
          <a:xfrm>
            <a:off x="9464000" y="7647813"/>
            <a:ext cx="1865376" cy="302666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Radius = 10 </a:t>
            </a:r>
            <a:r>
              <a:rPr lang="en-US" dirty="0" err="1"/>
              <a:t>Rearth</a:t>
            </a:r>
            <a:r>
              <a:rPr lang="en-US" dirty="0"/>
              <a:t> = 0.9Rjup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Mass = 1560Mearth = 5Mjup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Metallicity 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FA87A1-DE7A-A75B-CA3F-3AD2869BF254}"/>
              </a:ext>
            </a:extLst>
          </p:cNvPr>
          <p:cNvSpPr txBox="1"/>
          <p:nvPr/>
        </p:nvSpPr>
        <p:spPr>
          <a:xfrm>
            <a:off x="1304434" y="7278481"/>
            <a:ext cx="1005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Neptune</a:t>
            </a:r>
          </a:p>
        </p:txBody>
      </p:sp>
      <p:pic>
        <p:nvPicPr>
          <p:cNvPr id="10" name="Picture 9" descr="A picture containing text, line, diagram, screenshot&#10;&#10;Description automatically generated">
            <a:extLst>
              <a:ext uri="{FF2B5EF4-FFF2-40B4-BE49-F238E27FC236}">
                <a16:creationId xmlns:a16="http://schemas.microsoft.com/office/drawing/2014/main" id="{FD1A9E53-9617-C4C3-93DF-C285958A5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004" y="11345152"/>
            <a:ext cx="4864100" cy="2755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CE63989-F880-7D7C-08EB-8681BF3C5226}"/>
              </a:ext>
            </a:extLst>
          </p:cNvPr>
          <p:cNvSpPr txBox="1"/>
          <p:nvPr/>
        </p:nvSpPr>
        <p:spPr>
          <a:xfrm>
            <a:off x="3235666" y="6761487"/>
            <a:ext cx="15021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Neptune-Saturn Intermediate</a:t>
            </a:r>
          </a:p>
        </p:txBody>
      </p:sp>
      <p:pic>
        <p:nvPicPr>
          <p:cNvPr id="12" name="Picture 3">
            <a:extLst>
              <a:ext uri="{FF2B5EF4-FFF2-40B4-BE49-F238E27FC236}">
                <a16:creationId xmlns:a16="http://schemas.microsoft.com/office/drawing/2014/main" id="{17834AE0-3CF7-C9F7-A231-ADAE8A91A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236" y="3989726"/>
            <a:ext cx="3812659" cy="27072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E12F0D8F-7D23-E426-3985-BE1879135EE8}"/>
              </a:ext>
            </a:extLst>
          </p:cNvPr>
          <p:cNvSpPr/>
          <p:nvPr/>
        </p:nvSpPr>
        <p:spPr>
          <a:xfrm>
            <a:off x="1247280" y="4584003"/>
            <a:ext cx="2682312" cy="20002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92508FD-D0B6-5F21-1C24-BEDE4E1A1170}"/>
              </a:ext>
            </a:extLst>
          </p:cNvPr>
          <p:cNvCxnSpPr>
            <a:cxnSpLocks/>
          </p:cNvCxnSpPr>
          <p:nvPr/>
        </p:nvCxnSpPr>
        <p:spPr>
          <a:xfrm>
            <a:off x="2588438" y="4784028"/>
            <a:ext cx="1021639" cy="19774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>
            <a:extLst>
              <a:ext uri="{FF2B5EF4-FFF2-40B4-BE49-F238E27FC236}">
                <a16:creationId xmlns:a16="http://schemas.microsoft.com/office/drawing/2014/main" id="{9A6DA309-D0C3-479E-A43B-282EC6A551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1859" y="3683485"/>
            <a:ext cx="4579390" cy="36063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8094783-DBE8-BB06-6BB9-611643B183F2}"/>
              </a:ext>
            </a:extLst>
          </p:cNvPr>
          <p:cNvCxnSpPr>
            <a:cxnSpLocks/>
          </p:cNvCxnSpPr>
          <p:nvPr/>
        </p:nvCxnSpPr>
        <p:spPr>
          <a:xfrm flipV="1">
            <a:off x="1895721" y="10489391"/>
            <a:ext cx="1588034" cy="15882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5B0AD7A-1E5C-728D-59C8-8DE5A0885FD1}"/>
              </a:ext>
            </a:extLst>
          </p:cNvPr>
          <p:cNvCxnSpPr>
            <a:cxnSpLocks/>
          </p:cNvCxnSpPr>
          <p:nvPr/>
        </p:nvCxnSpPr>
        <p:spPr>
          <a:xfrm>
            <a:off x="4817847" y="4926595"/>
            <a:ext cx="249605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6B5BFD-D4D1-9800-EF47-5E6BA684D5E7}"/>
              </a:ext>
            </a:extLst>
          </p:cNvPr>
          <p:cNvCxnSpPr>
            <a:cxnSpLocks/>
          </p:cNvCxnSpPr>
          <p:nvPr/>
        </p:nvCxnSpPr>
        <p:spPr>
          <a:xfrm flipV="1">
            <a:off x="7313901" y="4926597"/>
            <a:ext cx="0" cy="202882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8F3B123-8E85-98F3-FC29-FD9CFB3B9A16}"/>
              </a:ext>
            </a:extLst>
          </p:cNvPr>
          <p:cNvCxnSpPr>
            <a:cxnSpLocks/>
          </p:cNvCxnSpPr>
          <p:nvPr/>
        </p:nvCxnSpPr>
        <p:spPr>
          <a:xfrm flipV="1">
            <a:off x="2911844" y="12088089"/>
            <a:ext cx="0" cy="1328739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9C7D765-C9B7-448F-C784-7471A184F3C5}"/>
              </a:ext>
            </a:extLst>
          </p:cNvPr>
          <p:cNvCxnSpPr>
            <a:cxnSpLocks/>
          </p:cNvCxnSpPr>
          <p:nvPr/>
        </p:nvCxnSpPr>
        <p:spPr>
          <a:xfrm>
            <a:off x="1630739" y="12088087"/>
            <a:ext cx="1281107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8FA011-9707-FCA7-56A5-6B204411BBF5}"/>
              </a:ext>
            </a:extLst>
          </p:cNvPr>
          <p:cNvCxnSpPr>
            <a:cxnSpLocks/>
          </p:cNvCxnSpPr>
          <p:nvPr/>
        </p:nvCxnSpPr>
        <p:spPr>
          <a:xfrm flipH="1">
            <a:off x="4376503" y="6696978"/>
            <a:ext cx="2937398" cy="25194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2708837-E9B6-E321-7EAA-A2C336D65FC7}"/>
              </a:ext>
            </a:extLst>
          </p:cNvPr>
          <p:cNvSpPr txBox="1"/>
          <p:nvPr/>
        </p:nvSpPr>
        <p:spPr>
          <a:xfrm>
            <a:off x="5752336" y="7334128"/>
            <a:ext cx="799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Saturn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11AB2F-9039-0C68-A5AE-756D27D2D979}"/>
              </a:ext>
            </a:extLst>
          </p:cNvPr>
          <p:cNvSpPr txBox="1"/>
          <p:nvPr/>
        </p:nvSpPr>
        <p:spPr>
          <a:xfrm>
            <a:off x="7881525" y="7315485"/>
            <a:ext cx="824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Jupiter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5E83CB-08CD-1E5A-35FB-B05C2A273018}"/>
              </a:ext>
            </a:extLst>
          </p:cNvPr>
          <p:cNvSpPr txBox="1"/>
          <p:nvPr/>
        </p:nvSpPr>
        <p:spPr>
          <a:xfrm>
            <a:off x="9680209" y="7294900"/>
            <a:ext cx="1422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Super Jupiter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2836AC7-E2BE-D699-54E8-8DFB50847226}"/>
              </a:ext>
            </a:extLst>
          </p:cNvPr>
          <p:cNvSpPr/>
          <p:nvPr/>
        </p:nvSpPr>
        <p:spPr>
          <a:xfrm>
            <a:off x="1398956" y="4188560"/>
            <a:ext cx="2682312" cy="330933"/>
          </a:xfrm>
          <a:prstGeom prst="ellipse">
            <a:avLst/>
          </a:prstGeom>
          <a:noFill/>
          <a:ln w="19050">
            <a:solidFill>
              <a:srgbClr val="4AD3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F9723D3-D9C0-4378-BCF1-D0E4CA1D2863}"/>
              </a:ext>
            </a:extLst>
          </p:cNvPr>
          <p:cNvCxnSpPr>
            <a:cxnSpLocks/>
            <a:stCxn id="25" idx="6"/>
          </p:cNvCxnSpPr>
          <p:nvPr/>
        </p:nvCxnSpPr>
        <p:spPr>
          <a:xfrm>
            <a:off x="4081270" y="4354027"/>
            <a:ext cx="5964675" cy="3037617"/>
          </a:xfrm>
          <a:prstGeom prst="straightConnector1">
            <a:avLst/>
          </a:prstGeom>
          <a:ln w="19050">
            <a:solidFill>
              <a:srgbClr val="4AD3D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9171C24-2CE8-E0DD-C02E-2BBDB48B6238}"/>
              </a:ext>
            </a:extLst>
          </p:cNvPr>
          <p:cNvCxnSpPr>
            <a:cxnSpLocks/>
          </p:cNvCxnSpPr>
          <p:nvPr/>
        </p:nvCxnSpPr>
        <p:spPr>
          <a:xfrm>
            <a:off x="4737822" y="4373535"/>
            <a:ext cx="4263082" cy="0"/>
          </a:xfrm>
          <a:prstGeom prst="line">
            <a:avLst/>
          </a:prstGeom>
          <a:ln w="19050">
            <a:solidFill>
              <a:srgbClr val="4AD3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D03B168-F6CA-094B-CD7D-104028E602FA}"/>
              </a:ext>
            </a:extLst>
          </p:cNvPr>
          <p:cNvCxnSpPr>
            <a:cxnSpLocks/>
          </p:cNvCxnSpPr>
          <p:nvPr/>
        </p:nvCxnSpPr>
        <p:spPr>
          <a:xfrm flipV="1">
            <a:off x="9000904" y="4365586"/>
            <a:ext cx="0" cy="2662563"/>
          </a:xfrm>
          <a:prstGeom prst="line">
            <a:avLst/>
          </a:prstGeom>
          <a:ln w="19050">
            <a:solidFill>
              <a:srgbClr val="4AD3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7D639C2-7BE3-6343-EEA0-6610C46ED199}"/>
              </a:ext>
            </a:extLst>
          </p:cNvPr>
          <p:cNvCxnSpPr>
            <a:cxnSpLocks/>
          </p:cNvCxnSpPr>
          <p:nvPr/>
        </p:nvCxnSpPr>
        <p:spPr>
          <a:xfrm flipV="1">
            <a:off x="5044119" y="12728603"/>
            <a:ext cx="0" cy="664370"/>
          </a:xfrm>
          <a:prstGeom prst="line">
            <a:avLst/>
          </a:prstGeom>
          <a:ln w="19050">
            <a:solidFill>
              <a:srgbClr val="4AD3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EB3EE90-BC99-F24F-A2BE-534CDB1559FA}"/>
              </a:ext>
            </a:extLst>
          </p:cNvPr>
          <p:cNvCxnSpPr>
            <a:cxnSpLocks/>
          </p:cNvCxnSpPr>
          <p:nvPr/>
        </p:nvCxnSpPr>
        <p:spPr>
          <a:xfrm>
            <a:off x="1630737" y="12736554"/>
            <a:ext cx="3413382" cy="0"/>
          </a:xfrm>
          <a:prstGeom prst="line">
            <a:avLst/>
          </a:prstGeom>
          <a:ln w="19050">
            <a:solidFill>
              <a:srgbClr val="4AD3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F4FA16A-0752-BFA0-048C-299AEAD2081C}"/>
              </a:ext>
            </a:extLst>
          </p:cNvPr>
          <p:cNvCxnSpPr>
            <a:cxnSpLocks/>
          </p:cNvCxnSpPr>
          <p:nvPr/>
        </p:nvCxnSpPr>
        <p:spPr>
          <a:xfrm flipV="1">
            <a:off x="4950368" y="10385847"/>
            <a:ext cx="4804387" cy="2337257"/>
          </a:xfrm>
          <a:prstGeom prst="straightConnector1">
            <a:avLst/>
          </a:prstGeom>
          <a:ln w="19050">
            <a:solidFill>
              <a:srgbClr val="4AD3D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D7974C0B-91DC-B9CA-06D7-B314C184E7AD}"/>
              </a:ext>
            </a:extLst>
          </p:cNvPr>
          <p:cNvSpPr/>
          <p:nvPr/>
        </p:nvSpPr>
        <p:spPr>
          <a:xfrm>
            <a:off x="240184" y="3683483"/>
            <a:ext cx="11738344" cy="10630306"/>
          </a:xfrm>
          <a:prstGeom prst="rect">
            <a:avLst/>
          </a:prstGeom>
          <a:noFill/>
          <a:ln w="38100"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881D78B-D961-2B0C-96CD-22BB43BA25FB}"/>
              </a:ext>
            </a:extLst>
          </p:cNvPr>
          <p:cNvCxnSpPr>
            <a:cxnSpLocks/>
          </p:cNvCxnSpPr>
          <p:nvPr/>
        </p:nvCxnSpPr>
        <p:spPr>
          <a:xfrm>
            <a:off x="9010123" y="4393046"/>
            <a:ext cx="858773" cy="3669138"/>
          </a:xfrm>
          <a:prstGeom prst="straightConnector1">
            <a:avLst/>
          </a:prstGeom>
          <a:ln w="19050">
            <a:solidFill>
              <a:srgbClr val="4AD3D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6E738A6-0842-9E7C-6B23-3E2BD4635C56}"/>
              </a:ext>
            </a:extLst>
          </p:cNvPr>
          <p:cNvSpPr txBox="1"/>
          <p:nvPr/>
        </p:nvSpPr>
        <p:spPr>
          <a:xfrm>
            <a:off x="2024190" y="2902316"/>
            <a:ext cx="80833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Planet Parameter Selection Justification</a:t>
            </a:r>
          </a:p>
        </p:txBody>
      </p:sp>
    </p:spTree>
    <p:extLst>
      <p:ext uri="{BB962C8B-B14F-4D97-AF65-F5344CB8AC3E}">
        <p14:creationId xmlns:p14="http://schemas.microsoft.com/office/powerpoint/2010/main" val="11015814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5683</TotalTime>
  <Words>357</Words>
  <Application>Microsoft Macintosh PowerPoint</Application>
  <PresentationFormat>Custom</PresentationFormat>
  <Paragraphs>118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Aptos Display</vt:lpstr>
      <vt:lpstr>Aptos</vt:lpstr>
      <vt:lpstr>Montserrat</vt:lpstr>
      <vt:lpstr>Cubano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Pearce, Logan</dc:creator>
  <cp:lastModifiedBy>Pearce, Logan</cp:lastModifiedBy>
  <cp:revision>6</cp:revision>
  <dcterms:created xsi:type="dcterms:W3CDTF">2026-01-09T19:17:57Z</dcterms:created>
  <dcterms:modified xsi:type="dcterms:W3CDTF">2026-01-29T19:37:08Z</dcterms:modified>
</cp:coreProperties>
</file>